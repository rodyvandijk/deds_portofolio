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sldIdLst>
    <p:sldId id="257" r:id="rId5"/>
    <p:sldId id="258" r:id="rId6"/>
    <p:sldId id="301" r:id="rId7"/>
    <p:sldId id="308" r:id="rId8"/>
    <p:sldId id="282" r:id="rId9"/>
    <p:sldId id="287" r:id="rId10"/>
    <p:sldId id="312" r:id="rId11"/>
    <p:sldId id="302" r:id="rId12"/>
    <p:sldId id="293" r:id="rId13"/>
    <p:sldId id="304" r:id="rId14"/>
    <p:sldId id="271" r:id="rId15"/>
    <p:sldId id="284" r:id="rId16"/>
    <p:sldId id="291" r:id="rId17"/>
    <p:sldId id="297" r:id="rId18"/>
    <p:sldId id="305" r:id="rId19"/>
    <p:sldId id="313" r:id="rId20"/>
    <p:sldId id="279" r:id="rId21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8EB64A-E865-966A-8332-0D130CF50B9A}" name="Bas van Zon" initials="BvZ" userId="S::ejbvzon@hhs.nl::307771b7-d926-4cce-8fc9-5ebdd4ab6e47" providerId="AD"/>
  <p188:author id="{8E86956B-D5D2-9C10-7703-AED3979430FE}" name="Jelle van Barneveld" initials="JB" userId="S::jhbarnev@hhs.nl::bc7ecfdf-3719-43bf-9ebf-4e7030cd470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F12BD3-8874-424D-A2BD-2C7418D93A0D}" v="4" dt="2025-04-09T13:47:59.4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9" autoAdjust="0"/>
  </p:normalViewPr>
  <p:slideViewPr>
    <p:cSldViewPr snapToGrid="0">
      <p:cViewPr varScale="1">
        <p:scale>
          <a:sx n="74" d="100"/>
          <a:sy n="74" d="100"/>
        </p:scale>
        <p:origin x="1013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lle van Barneveld" userId="5d01777c010a23b8" providerId="LiveId" clId="{32F12BD3-8874-424D-A2BD-2C7418D93A0D}"/>
    <pc:docChg chg="modSld">
      <pc:chgData name="Jelle van Barneveld" userId="5d01777c010a23b8" providerId="LiveId" clId="{32F12BD3-8874-424D-A2BD-2C7418D93A0D}" dt="2025-04-09T13:48:22.543" v="7" actId="20577"/>
      <pc:docMkLst>
        <pc:docMk/>
      </pc:docMkLst>
      <pc:sldChg chg="modAnim">
        <pc:chgData name="Jelle van Barneveld" userId="5d01777c010a23b8" providerId="LiveId" clId="{32F12BD3-8874-424D-A2BD-2C7418D93A0D}" dt="2025-04-09T13:47:59.454" v="3"/>
        <pc:sldMkLst>
          <pc:docMk/>
          <pc:sldMk cId="386274684" sldId="258"/>
        </pc:sldMkLst>
      </pc:sldChg>
      <pc:sldChg chg="modSp mod">
        <pc:chgData name="Jelle van Barneveld" userId="5d01777c010a23b8" providerId="LiveId" clId="{32F12BD3-8874-424D-A2BD-2C7418D93A0D}" dt="2025-04-09T13:48:22.543" v="7" actId="20577"/>
        <pc:sldMkLst>
          <pc:docMk/>
          <pc:sldMk cId="1818930533" sldId="279"/>
        </pc:sldMkLst>
        <pc:spChg chg="mod">
          <ac:chgData name="Jelle van Barneveld" userId="5d01777c010a23b8" providerId="LiveId" clId="{32F12BD3-8874-424D-A2BD-2C7418D93A0D}" dt="2025-04-09T13:48:20.058" v="5" actId="20577"/>
          <ac:spMkLst>
            <pc:docMk/>
            <pc:sldMk cId="1818930533" sldId="279"/>
            <ac:spMk id="15" creationId="{FF892CED-E49D-1002-2300-EC59C26C1488}"/>
          </ac:spMkLst>
        </pc:spChg>
        <pc:spChg chg="mod">
          <ac:chgData name="Jelle van Barneveld" userId="5d01777c010a23b8" providerId="LiveId" clId="{32F12BD3-8874-424D-A2BD-2C7418D93A0D}" dt="2025-04-09T13:48:22.543" v="7" actId="20577"/>
          <ac:spMkLst>
            <pc:docMk/>
            <pc:sldMk cId="1818930533" sldId="279"/>
            <ac:spMk id="23" creationId="{1130CADC-489D-7101-C92E-2491BF76105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65027-F512-4E23-AAE8-48F1D030813D}" type="datetimeFigureOut">
              <a:rPr lang="nl-NL" smtClean="0"/>
              <a:t>9-4-2025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E0558C-2C0C-4286-A12D-99DDC6836E8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3332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defTabSz="477838" rtl="0" eaLnBrk="0" fontAlgn="base" latinLnBrk="0" hangingPunct="0">
              <a:lnSpc>
                <a:spcPct val="100000"/>
              </a:lnSpc>
              <a:spcBef>
                <a:spcPts val="7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>
                <a:tab pos="755650" algn="l"/>
                <a:tab pos="1511300" algn="l"/>
                <a:tab pos="2268538" algn="l"/>
                <a:tab pos="3024188" algn="l"/>
              </a:tabLst>
              <a:defRPr/>
            </a:pPr>
            <a:fld id="{F751C962-19B1-E941-BF11-D365F135F8D5}" type="slidenum">
              <a:rPr kumimoji="0" lang="en-GB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MS PGothic" charset="0"/>
                <a:cs typeface="+mn-cs"/>
              </a:rPr>
              <a:pPr marL="0" marR="0" lvl="0" indent="0" algn="r" defTabSz="477838" rtl="0" eaLnBrk="0" fontAlgn="base" latinLnBrk="0" hangingPunct="0">
                <a:lnSpc>
                  <a:spcPct val="100000"/>
                </a:lnSpc>
                <a:spcBef>
                  <a:spcPts val="7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755650" algn="l"/>
                  <a:tab pos="1511300" algn="l"/>
                  <a:tab pos="2268538" algn="l"/>
                  <a:tab pos="3024188" algn="l"/>
                </a:tabLst>
                <a:defRPr/>
              </a:pPr>
              <a:t>1</a:t>
            </a:fld>
            <a:endParaRPr kumimoji="0" lang="en-GB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MS PGothic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6184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Wellicht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slide die de term ‘machine-learning’ </a:t>
            </a:r>
            <a:r>
              <a:rPr lang="en-US" dirty="0" err="1"/>
              <a:t>introduceerd</a:t>
            </a:r>
            <a:r>
              <a:rPr lang="en-US" dirty="0"/>
              <a:t>?</a:t>
            </a:r>
            <a:endParaRPr lang="nl-NL" dirty="0"/>
          </a:p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0558C-2C0C-4286-A12D-99DDC6836E83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06909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Wellicht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slide die de term ‘machine-learning’ </a:t>
            </a:r>
            <a:r>
              <a:rPr lang="en-US" dirty="0" err="1"/>
              <a:t>introduceerd</a:t>
            </a:r>
            <a:r>
              <a:rPr lang="en-US" dirty="0"/>
              <a:t>?</a:t>
            </a:r>
            <a:endParaRPr lang="nl-NL" dirty="0"/>
          </a:p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0558C-2C0C-4286-A12D-99DDC6836E83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58459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794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87CBEC-879D-4917-8D46-5F3379606F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94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87CBEC-879D-4917-8D46-5F3379606F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92508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87CBEC-879D-4917-8D46-5F3379606F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94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56E09-0CF7-15FE-56AE-AE2E7006B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2C46A-8596-B33A-41BF-366F0B9C7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80EAD-293B-3E82-7011-9362B1852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DC25E-D1B9-004D-65A4-A9F2925A5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3C643-E9BF-9350-BA5B-D59CDAF25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4244037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0AC38-465A-FCC3-19DB-3C9769EC9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73C0E-B795-CB22-8144-DEBE8E52D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83648-CD85-36A6-CD18-E358C1884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4FC97-521F-4024-F7E5-F39DC51A0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B9FE3-1390-D2E6-7A7F-5DB9A4FD5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05145667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995CC-9A3B-32C7-26FA-7633AA54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676F7-064C-4F26-1F72-ABFA718DE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17449-E52C-836C-22C1-A220B80D2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EDBA3-7981-A147-894E-FBFEBC4E7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A01B8-6A5C-FB02-094E-4E81295A2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583543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D475C-EE23-3178-A543-73FB811C5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8AB17-626A-5333-0A6E-CB12FEA6D1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13F0F-4796-84F5-DBE7-43D61AD83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6BAF8-6E9E-0047-C4AF-6160F2736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037A4-3D45-7E03-AF61-940775F3C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FC9BB-0E76-AB74-BDB5-D56968BC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3552300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1D902-B76B-0D3B-7D8E-EC62DB739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87664-4DB7-3A7A-9154-32CA8884A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BF2F29-D106-938C-7A85-CC58AA8C9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78DE05-771E-EAF7-B5AD-DB62810DDC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CAFE87-8F2D-F296-E5BE-76C0F381E0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7ADE75-237D-46D1-ACCC-056D7986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50C1E-DB96-C177-6BCD-6837B4579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5317B8-7B96-056C-C7A6-38D4E1FEE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0968797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630FC-7829-8CDA-4A7A-B763E7F01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F884C6-40AE-7A1A-646F-FDB97DF4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C0B22-A8AB-852C-7952-E20D6422F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1647F-ACAF-E312-C8BB-7F265E5E9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80393806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069462-9FEA-5D88-EE00-E187BAA4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B7087A-F4BC-7377-70F3-0A571BD7F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184FF-048E-0634-23CE-F08BC130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9965123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20A2F-4D46-B289-C61D-EBEAFA11E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F170F-AB91-8E12-212F-57BF04301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1F1DB-E4ED-A226-CC84-D5BC80092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7C25F-3269-1F4E-CECA-5F2EF4454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E8728-A678-4921-52FF-FAC84DAB2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F1AA8-97A5-DAD4-C8BC-65BC563F9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7129655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CA4B-6237-DD8B-3CF0-8F9C6FB90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42D31B-B7BB-010A-4AA4-79370FF579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D15A3-2F7F-E910-4E49-0319EF17F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73E74-A348-3972-B8B8-EF901921A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FB359-D110-649F-2709-F12065329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FDCBB-7F8D-7680-B733-5A4972100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664309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2EFF2-C20E-F920-8CD9-F976324B3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8FCEA7-24D9-D5DC-C977-375463206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CC4D3-B485-2A8D-BCF7-F3BAC5F16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DB089-D6C5-1314-9322-0562E592B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57239-F72A-B3B9-4251-D09071CFD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4976045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5FB015-28AB-C2F6-BF24-7B41FC5C45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5C4992-6315-8134-344F-FBC543F69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BBA65-F8D1-924C-C2F9-7A3F3711A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9CD2E-031C-46D2-1A49-7115D8930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EE953-6330-21D1-00CB-7FC8C8955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51566069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11FA4E-E385-847C-AE6D-230355D62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B839E-C7CC-BF9A-55C1-AD77C38C5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0ABAE-69DA-E883-5ADB-EB9AC96D09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6B45D-D98F-4A32-A567-4AE2A91459D6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2FF5B-BFA7-55B6-6151-5B263570E6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7B8DA-67AF-B29B-FC1D-2E0669688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8C1A59F-BCA0-79F1-6F87-079182BCC73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4763"/>
            <a:ext cx="977900" cy="686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043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7">
            <a:extLst>
              <a:ext uri="{FF2B5EF4-FFF2-40B4-BE49-F238E27FC236}">
                <a16:creationId xmlns:a16="http://schemas.microsoft.com/office/drawing/2014/main" id="{5ECCA89E-3666-CEB9-DEEF-AE7D0C9A09DE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BAAD41C4-AB8B-603C-1D5D-873690001E0D}"/>
              </a:ext>
            </a:extLst>
          </p:cNvPr>
          <p:cNvSpPr txBox="1"/>
          <p:nvPr/>
        </p:nvSpPr>
        <p:spPr>
          <a:xfrm>
            <a:off x="1455575" y="0"/>
            <a:ext cx="1039177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lang="nl-NL" sz="3000" b="1" dirty="0">
                <a:solidFill>
                  <a:srgbClr val="829C30"/>
                </a:solidFill>
                <a:latin typeface="Arial"/>
                <a:ea typeface="MS PGothic" charset="0"/>
              </a:rPr>
              <a:t>Regressiemodellen in Machine Learning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pic>
        <p:nvPicPr>
          <p:cNvPr id="1032" name="Picture 8" descr="Titanic blijft na 25 jaar nog altijd aangrijpend | Trouw">
            <a:extLst>
              <a:ext uri="{FF2B5EF4-FFF2-40B4-BE49-F238E27FC236}">
                <a16:creationId xmlns:a16="http://schemas.microsoft.com/office/drawing/2014/main" id="{F1F0CDDF-8A8F-AEE1-780D-58DF51996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384" y="1370833"/>
            <a:ext cx="8791103" cy="4705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0801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7C737D-49A5-4740-8401-0C4DFF2B9D4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7CD2F944-88DB-C3A7-45F7-E30B87964246}"/>
              </a:ext>
            </a:extLst>
          </p:cNvPr>
          <p:cNvSpPr txBox="1"/>
          <p:nvPr/>
        </p:nvSpPr>
        <p:spPr>
          <a:xfrm>
            <a:off x="3255649" y="0"/>
            <a:ext cx="6493163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Na </a:t>
            </a: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vandaag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…</a:t>
            </a: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pic>
        <p:nvPicPr>
          <p:cNvPr id="1026" name="Picture 2" descr="Venn Diagram | DHH Resources for Teachers | UMN">
            <a:extLst>
              <a:ext uri="{FF2B5EF4-FFF2-40B4-BE49-F238E27FC236}">
                <a16:creationId xmlns:a16="http://schemas.microsoft.com/office/drawing/2014/main" id="{7ED165F3-95C7-4DFE-96C3-50E651F0E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863" y="1025768"/>
            <a:ext cx="11101137" cy="589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490D3E-EF89-C010-3F4B-F601B3E08A37}"/>
              </a:ext>
            </a:extLst>
          </p:cNvPr>
          <p:cNvSpPr txBox="1"/>
          <p:nvPr/>
        </p:nvSpPr>
        <p:spPr>
          <a:xfrm>
            <a:off x="3576418" y="683609"/>
            <a:ext cx="1294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Weet je…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0EF7E7-CD2F-7741-9C29-123FB8D93DDC}"/>
              </a:ext>
            </a:extLst>
          </p:cNvPr>
          <p:cNvSpPr txBox="1"/>
          <p:nvPr/>
        </p:nvSpPr>
        <p:spPr>
          <a:xfrm>
            <a:off x="8107256" y="703521"/>
            <a:ext cx="1131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Kan je…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0320AE-CE57-9D64-F411-B113070D2BCC}"/>
              </a:ext>
            </a:extLst>
          </p:cNvPr>
          <p:cNvSpPr txBox="1"/>
          <p:nvPr/>
        </p:nvSpPr>
        <p:spPr>
          <a:xfrm>
            <a:off x="5808945" y="2475078"/>
            <a:ext cx="1368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HC + practicum</a:t>
            </a:r>
          </a:p>
        </p:txBody>
      </p:sp>
      <p:pic>
        <p:nvPicPr>
          <p:cNvPr id="1030" name="Picture 6" descr="Smile Emoji Happy - Free vector graphic on Pixabay">
            <a:extLst>
              <a:ext uri="{FF2B5EF4-FFF2-40B4-BE49-F238E27FC236}">
                <a16:creationId xmlns:a16="http://schemas.microsoft.com/office/drawing/2014/main" id="{A359608D-0FAD-B299-A99E-0045AC944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40" y="3275345"/>
            <a:ext cx="1523028" cy="152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F0621E4-74F4-FAC7-0E0A-2A8DDEB96310}"/>
              </a:ext>
            </a:extLst>
          </p:cNvPr>
          <p:cNvSpPr txBox="1"/>
          <p:nvPr/>
        </p:nvSpPr>
        <p:spPr>
          <a:xfrm>
            <a:off x="7760341" y="4892109"/>
            <a:ext cx="3062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uitkomsten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regressiemodellen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interpreteren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evalueren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extBox 16">
            <a:extLst>
              <a:ext uri="{FF2B5EF4-FFF2-40B4-BE49-F238E27FC236}">
                <a16:creationId xmlns:a16="http://schemas.microsoft.com/office/drawing/2014/main" id="{AB055838-C7ED-88C2-08DF-B247E02AFBB8}"/>
              </a:ext>
            </a:extLst>
          </p:cNvPr>
          <p:cNvSpPr txBox="1"/>
          <p:nvPr/>
        </p:nvSpPr>
        <p:spPr>
          <a:xfrm>
            <a:off x="1473557" y="3275345"/>
            <a:ext cx="3335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Wat het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verschil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tussen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supervised &amp; unsupervised Machine Learning</a:t>
            </a:r>
          </a:p>
        </p:txBody>
      </p:sp>
      <p:sp>
        <p:nvSpPr>
          <p:cNvPr id="3" name="TextBox 16">
            <a:extLst>
              <a:ext uri="{FF2B5EF4-FFF2-40B4-BE49-F238E27FC236}">
                <a16:creationId xmlns:a16="http://schemas.microsoft.com/office/drawing/2014/main" id="{7CAAFDE4-0C43-6A31-5BEA-5A7B81EF0A7F}"/>
              </a:ext>
            </a:extLst>
          </p:cNvPr>
          <p:cNvSpPr txBox="1"/>
          <p:nvPr/>
        </p:nvSpPr>
        <p:spPr>
          <a:xfrm>
            <a:off x="2164763" y="5169108"/>
            <a:ext cx="33350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Welke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supervised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modellen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er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zijn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wanneer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welke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gebruikt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04829D23-8DDF-78CB-8E82-6543A045E278}"/>
              </a:ext>
            </a:extLst>
          </p:cNvPr>
          <p:cNvSpPr txBox="1"/>
          <p:nvPr/>
        </p:nvSpPr>
        <p:spPr>
          <a:xfrm>
            <a:off x="8017469" y="2967335"/>
            <a:ext cx="29046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regressiemodellen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train-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testbaar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D45E8F2A-7908-3223-8685-00434AE8F1EB}"/>
              </a:ext>
            </a:extLst>
          </p:cNvPr>
          <p:cNvSpPr txBox="1"/>
          <p:nvPr/>
        </p:nvSpPr>
        <p:spPr>
          <a:xfrm>
            <a:off x="2472537" y="1524512"/>
            <a:ext cx="3335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Wat het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verschil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tussen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Machine Lea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rning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“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traditionele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AI”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CAA48B3D-AF62-AAE5-5125-C485F4535EC3}"/>
              </a:ext>
            </a:extLst>
          </p:cNvPr>
          <p:cNvSpPr txBox="1"/>
          <p:nvPr/>
        </p:nvSpPr>
        <p:spPr>
          <a:xfrm>
            <a:off x="7332875" y="1614983"/>
            <a:ext cx="30624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Datasets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prepareren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voor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het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toepassen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van Machine-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Learningmodellen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74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10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Machine Learning vs. “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Traditionele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AI”</a:t>
            </a: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D403D28-38E6-E976-8636-3F973FB2541F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6EBBAAF-064A-A99B-AEE5-4D6114FC22DD}"/>
              </a:ext>
            </a:extLst>
          </p:cNvPr>
          <p:cNvCxnSpPr>
            <a:cxnSpLocks/>
          </p:cNvCxnSpPr>
          <p:nvPr/>
        </p:nvCxnSpPr>
        <p:spPr>
          <a:xfrm flipV="1">
            <a:off x="6590145" y="812800"/>
            <a:ext cx="0" cy="604520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">
            <a:extLst>
              <a:ext uri="{FF2B5EF4-FFF2-40B4-BE49-F238E27FC236}">
                <a16:creationId xmlns:a16="http://schemas.microsoft.com/office/drawing/2014/main" id="{00251B71-3E87-E159-84CA-8CBA38F29A15}"/>
              </a:ext>
            </a:extLst>
          </p:cNvPr>
          <p:cNvSpPr txBox="1"/>
          <p:nvPr/>
        </p:nvSpPr>
        <p:spPr>
          <a:xfrm>
            <a:off x="1850701" y="837429"/>
            <a:ext cx="3649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Traditionele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AI</a:t>
            </a:r>
            <a:endParaRPr lang="nl-NL" sz="2000" dirty="0"/>
          </a:p>
        </p:txBody>
      </p:sp>
      <p:sp>
        <p:nvSpPr>
          <p:cNvPr id="19" name="TextBox 1">
            <a:extLst>
              <a:ext uri="{FF2B5EF4-FFF2-40B4-BE49-F238E27FC236}">
                <a16:creationId xmlns:a16="http://schemas.microsoft.com/office/drawing/2014/main" id="{915C875B-B26A-2F79-6FBB-4D96A68FF464}"/>
              </a:ext>
            </a:extLst>
          </p:cNvPr>
          <p:cNvSpPr txBox="1"/>
          <p:nvPr/>
        </p:nvSpPr>
        <p:spPr>
          <a:xfrm>
            <a:off x="8344530" y="879137"/>
            <a:ext cx="2823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Machine Learning</a:t>
            </a:r>
            <a:endParaRPr lang="nl-NL" sz="2000" dirty="0"/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E1920202-5C03-4241-6763-D8DAA9CFD28F}"/>
              </a:ext>
            </a:extLst>
          </p:cNvPr>
          <p:cNvSpPr txBox="1"/>
          <p:nvPr/>
        </p:nvSpPr>
        <p:spPr>
          <a:xfrm>
            <a:off x="6637112" y="5211380"/>
            <a:ext cx="5478687" cy="1536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</a:pPr>
            <a:r>
              <a:rPr lang="en-US" dirty="0">
                <a:latin typeface="Arial"/>
                <a:ea typeface="MS PGothic" charset="0"/>
              </a:rPr>
              <a:t>We laten computers </a:t>
            </a:r>
            <a:r>
              <a:rPr lang="en-US" dirty="0" err="1">
                <a:latin typeface="Arial"/>
                <a:ea typeface="MS PGothic" charset="0"/>
              </a:rPr>
              <a:t>zelf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denken</a:t>
            </a:r>
            <a:r>
              <a:rPr lang="en-US" dirty="0">
                <a:latin typeface="Arial"/>
                <a:ea typeface="MS PGothic" charset="0"/>
              </a:rPr>
              <a:t> door hen inputs </a:t>
            </a:r>
            <a:r>
              <a:rPr lang="en-US" dirty="0" err="1">
                <a:latin typeface="Arial"/>
                <a:ea typeface="MS PGothic" charset="0"/>
              </a:rPr>
              <a:t>en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antwoorden</a:t>
            </a:r>
            <a:r>
              <a:rPr lang="en-US" dirty="0">
                <a:latin typeface="Arial"/>
                <a:ea typeface="MS PGothic" charset="0"/>
              </a:rPr>
              <a:t> mee </a:t>
            </a:r>
            <a:r>
              <a:rPr lang="en-US" dirty="0" err="1">
                <a:latin typeface="Arial"/>
                <a:ea typeface="MS PGothic" charset="0"/>
              </a:rPr>
              <a:t>te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geven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en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vervolgens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te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zeggen</a:t>
            </a:r>
            <a:r>
              <a:rPr lang="en-US" dirty="0">
                <a:latin typeface="Arial"/>
                <a:ea typeface="MS PGothic" charset="0"/>
              </a:rPr>
              <a:t>: “</a:t>
            </a:r>
            <a:r>
              <a:rPr lang="en-US" dirty="0" err="1">
                <a:latin typeface="Arial"/>
                <a:ea typeface="MS PGothic" charset="0"/>
              </a:rPr>
              <a:t>bepaal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zelf</a:t>
            </a:r>
            <a:r>
              <a:rPr lang="en-US" dirty="0">
                <a:latin typeface="Arial"/>
                <a:ea typeface="MS PGothic" charset="0"/>
              </a:rPr>
              <a:t> maar met </a:t>
            </a:r>
            <a:r>
              <a:rPr lang="en-US" dirty="0" err="1">
                <a:latin typeface="Arial"/>
                <a:ea typeface="MS PGothic" charset="0"/>
              </a:rPr>
              <a:t>welke</a:t>
            </a:r>
            <a:r>
              <a:rPr lang="en-US" dirty="0">
                <a:latin typeface="Arial"/>
                <a:ea typeface="MS PGothic" charset="0"/>
              </a:rPr>
              <a:t> regels je van inputs tot de </a:t>
            </a:r>
            <a:r>
              <a:rPr lang="en-US" dirty="0" err="1">
                <a:latin typeface="Arial"/>
                <a:ea typeface="MS PGothic" charset="0"/>
              </a:rPr>
              <a:t>juiste</a:t>
            </a:r>
            <a:r>
              <a:rPr lang="en-US" dirty="0">
                <a:latin typeface="Arial"/>
                <a:ea typeface="MS PGothic" charset="0"/>
              </a:rPr>
              <a:t> outputs </a:t>
            </a:r>
            <a:r>
              <a:rPr lang="en-US" dirty="0" err="1">
                <a:latin typeface="Arial"/>
                <a:ea typeface="MS PGothic" charset="0"/>
              </a:rPr>
              <a:t>komt</a:t>
            </a:r>
            <a:r>
              <a:rPr lang="en-US" dirty="0">
                <a:latin typeface="Arial"/>
                <a:ea typeface="MS PGothic" charset="0"/>
              </a:rPr>
              <a:t>.</a:t>
            </a:r>
          </a:p>
        </p:txBody>
      </p:sp>
      <p:pic>
        <p:nvPicPr>
          <p:cNvPr id="1026" name="Picture 2" descr="Elektronisch Schaakbord - Schaakcomputer - Schaakspel - 8 in 1 Spel | Games  | bol">
            <a:extLst>
              <a:ext uri="{FF2B5EF4-FFF2-40B4-BE49-F238E27FC236}">
                <a16:creationId xmlns:a16="http://schemas.microsoft.com/office/drawing/2014/main" id="{9E4652B9-82EF-AC55-FF1D-47F4532BE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568" y="1450322"/>
            <a:ext cx="3561508" cy="2272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23D37ADE-6155-8CB6-B819-E247182DF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467" y="3759369"/>
            <a:ext cx="4697711" cy="1202727"/>
          </a:xfrm>
          <a:prstGeom prst="rect">
            <a:avLst/>
          </a:prstGeom>
        </p:spPr>
      </p:pic>
      <p:sp>
        <p:nvSpPr>
          <p:cNvPr id="11" name="TextBox 1">
            <a:extLst>
              <a:ext uri="{FF2B5EF4-FFF2-40B4-BE49-F238E27FC236}">
                <a16:creationId xmlns:a16="http://schemas.microsoft.com/office/drawing/2014/main" id="{A0D72E47-D935-6286-B3A7-4B72D3762E71}"/>
              </a:ext>
            </a:extLst>
          </p:cNvPr>
          <p:cNvSpPr txBox="1"/>
          <p:nvPr/>
        </p:nvSpPr>
        <p:spPr>
          <a:xfrm>
            <a:off x="1011934" y="5157275"/>
            <a:ext cx="5349108" cy="1536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</a:pPr>
            <a:r>
              <a:rPr lang="en-US" dirty="0">
                <a:latin typeface="Arial"/>
                <a:ea typeface="MS PGothic" charset="0"/>
              </a:rPr>
              <a:t>In </a:t>
            </a:r>
            <a:r>
              <a:rPr lang="en-US" dirty="0" err="1">
                <a:latin typeface="Arial"/>
                <a:ea typeface="MS PGothic" charset="0"/>
              </a:rPr>
              <a:t>een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bepaalde</a:t>
            </a:r>
            <a:r>
              <a:rPr lang="en-US" dirty="0">
                <a:latin typeface="Arial"/>
                <a:ea typeface="MS PGothic" charset="0"/>
              </a:rPr>
              <a:t> setting </a:t>
            </a:r>
            <a:r>
              <a:rPr lang="en-US" dirty="0" err="1">
                <a:latin typeface="Arial"/>
                <a:ea typeface="MS PGothic" charset="0"/>
              </a:rPr>
              <a:t>werd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voor</a:t>
            </a:r>
            <a:r>
              <a:rPr lang="en-US" dirty="0">
                <a:latin typeface="Arial"/>
                <a:ea typeface="MS PGothic" charset="0"/>
              </a:rPr>
              <a:t> elk </a:t>
            </a:r>
            <a:r>
              <a:rPr lang="en-US" dirty="0" err="1">
                <a:latin typeface="Arial"/>
                <a:ea typeface="MS PGothic" charset="0"/>
              </a:rPr>
              <a:t>denkbaar</a:t>
            </a:r>
            <a:r>
              <a:rPr lang="en-US" dirty="0">
                <a:latin typeface="Arial"/>
                <a:ea typeface="MS PGothic" charset="0"/>
              </a:rPr>
              <a:t> scenario </a:t>
            </a:r>
            <a:r>
              <a:rPr lang="en-US" dirty="0" err="1">
                <a:latin typeface="Arial"/>
                <a:ea typeface="MS PGothic" charset="0"/>
              </a:rPr>
              <a:t>een</a:t>
            </a:r>
            <a:r>
              <a:rPr lang="en-US" dirty="0">
                <a:latin typeface="Arial"/>
                <a:ea typeface="MS PGothic" charset="0"/>
              </a:rPr>
              <a:t> (if-)regel </a:t>
            </a:r>
            <a:r>
              <a:rPr lang="en-US" dirty="0" err="1">
                <a:latin typeface="Arial"/>
                <a:ea typeface="MS PGothic" charset="0"/>
              </a:rPr>
              <a:t>geprogrammeerd</a:t>
            </a:r>
            <a:r>
              <a:rPr lang="en-US" dirty="0">
                <a:latin typeface="Arial"/>
                <a:ea typeface="MS PGothic" charset="0"/>
              </a:rPr>
              <a:t>, </a:t>
            </a:r>
            <a:r>
              <a:rPr lang="en-US" dirty="0" err="1">
                <a:latin typeface="Arial"/>
                <a:ea typeface="MS PGothic" charset="0"/>
              </a:rPr>
              <a:t>waarmee</a:t>
            </a:r>
            <a:r>
              <a:rPr lang="en-US" dirty="0">
                <a:latin typeface="Arial"/>
                <a:ea typeface="MS PGothic" charset="0"/>
              </a:rPr>
              <a:t> computers tot de </a:t>
            </a:r>
            <a:r>
              <a:rPr lang="en-US" dirty="0" err="1">
                <a:latin typeface="Arial"/>
                <a:ea typeface="MS PGothic" charset="0"/>
              </a:rPr>
              <a:t>juiste</a:t>
            </a:r>
            <a:r>
              <a:rPr lang="en-US" dirty="0">
                <a:latin typeface="Arial"/>
                <a:ea typeface="MS PGothic" charset="0"/>
              </a:rPr>
              <a:t> / </a:t>
            </a:r>
            <a:r>
              <a:rPr lang="en-US" dirty="0" err="1">
                <a:latin typeface="Arial"/>
                <a:ea typeface="MS PGothic" charset="0"/>
              </a:rPr>
              <a:t>meest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optimale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antwoorden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kwamen</a:t>
            </a:r>
            <a:r>
              <a:rPr lang="en-US" dirty="0">
                <a:latin typeface="Arial"/>
                <a:ea typeface="MS PGothic" charset="0"/>
              </a:rPr>
              <a:t>.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5339045F-7F3A-189D-8CA0-1E716DB121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0838" y="3907444"/>
            <a:ext cx="4600469" cy="1054652"/>
          </a:xfrm>
          <a:prstGeom prst="rect">
            <a:avLst/>
          </a:prstGeom>
        </p:spPr>
      </p:pic>
      <p:pic>
        <p:nvPicPr>
          <p:cNvPr id="1032" name="Picture 8" descr="Persbericht - De toekomst van zelfrijdende auto's | MT/Sprout">
            <a:extLst>
              <a:ext uri="{FF2B5EF4-FFF2-40B4-BE49-F238E27FC236}">
                <a16:creationId xmlns:a16="http://schemas.microsoft.com/office/drawing/2014/main" id="{A8123182-0ACC-27E9-36C6-86026B6CD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249" y="1450322"/>
            <a:ext cx="5221581" cy="2272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6126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72A99-783D-7E30-4554-3CBAE2435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4</a:t>
            </a:fld>
            <a:endParaRPr lang="nl-NL"/>
          </a:p>
        </p:txBody>
      </p:sp>
      <p:pic>
        <p:nvPicPr>
          <p:cNvPr id="1028" name="Picture 4" descr="Differences Between Supervised and Unsupervised Learning - Shiksha Online">
            <a:extLst>
              <a:ext uri="{FF2B5EF4-FFF2-40B4-BE49-F238E27FC236}">
                <a16:creationId xmlns:a16="http://schemas.microsoft.com/office/drawing/2014/main" id="{DA04D4D7-4E20-0336-F727-39968BF60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290" y="731031"/>
            <a:ext cx="11203710" cy="5625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BB3E5694-40D9-E2F8-7770-51C4F50AC5E2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Soorten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Machine-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Learningmodellen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(1)</a:t>
            </a:r>
          </a:p>
        </p:txBody>
      </p:sp>
      <p:cxnSp>
        <p:nvCxnSpPr>
          <p:cNvPr id="9" name="Straight Connector 10">
            <a:extLst>
              <a:ext uri="{FF2B5EF4-FFF2-40B4-BE49-F238E27FC236}">
                <a16:creationId xmlns:a16="http://schemas.microsoft.com/office/drawing/2014/main" id="{9CB1F5E5-EB00-4D86-DBEE-B0CD8FEC3235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kstvak 11">
            <a:extLst>
              <a:ext uri="{FF2B5EF4-FFF2-40B4-BE49-F238E27FC236}">
                <a16:creationId xmlns:a16="http://schemas.microsoft.com/office/drawing/2014/main" id="{3FBCC34A-041C-B7B3-8889-B3D504F5A1C4}"/>
              </a:ext>
            </a:extLst>
          </p:cNvPr>
          <p:cNvSpPr txBox="1"/>
          <p:nvPr/>
        </p:nvSpPr>
        <p:spPr>
          <a:xfrm>
            <a:off x="988290" y="1328913"/>
            <a:ext cx="26825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De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voorspellingen</a:t>
            </a:r>
            <a:r>
              <a:rPr lang="nl-NL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van modellen kunnen gecontroleerd worden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charset="0"/>
              <a:cs typeface="Arial" panose="020B0604020202020204" pitchFamily="34" charset="0"/>
            </a:endParaRP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142709C6-4631-E82A-0721-E3178EC06C59}"/>
              </a:ext>
            </a:extLst>
          </p:cNvPr>
          <p:cNvSpPr txBox="1"/>
          <p:nvPr/>
        </p:nvSpPr>
        <p:spPr>
          <a:xfrm>
            <a:off x="8372400" y="1190414"/>
            <a:ext cx="37076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Je vraagt je modellen zélf op zoek te gaan naar patronen in de data, zonder menselijke input. Er zijn geen “juiste antwoorden”.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charset="0"/>
              <a:cs typeface="Arial" panose="020B0604020202020204" pitchFamily="34" charset="0"/>
            </a:endParaRPr>
          </a:p>
        </p:txBody>
      </p:sp>
      <p:sp>
        <p:nvSpPr>
          <p:cNvPr id="25" name="Rechthoek 24">
            <a:extLst>
              <a:ext uri="{FF2B5EF4-FFF2-40B4-BE49-F238E27FC236}">
                <a16:creationId xmlns:a16="http://schemas.microsoft.com/office/drawing/2014/main" id="{F702FF1D-89F1-20F1-4038-1987EF3C0E21}"/>
              </a:ext>
            </a:extLst>
          </p:cNvPr>
          <p:cNvSpPr/>
          <p:nvPr/>
        </p:nvSpPr>
        <p:spPr>
          <a:xfrm>
            <a:off x="988290" y="3543690"/>
            <a:ext cx="5496486" cy="2576377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6" name="Rechthoek 25">
            <a:extLst>
              <a:ext uri="{FF2B5EF4-FFF2-40B4-BE49-F238E27FC236}">
                <a16:creationId xmlns:a16="http://schemas.microsoft.com/office/drawing/2014/main" id="{CDEB533E-0B76-E844-2D98-23AA6F96C379}"/>
              </a:ext>
            </a:extLst>
          </p:cNvPr>
          <p:cNvSpPr/>
          <p:nvPr/>
        </p:nvSpPr>
        <p:spPr>
          <a:xfrm>
            <a:off x="6484776" y="3543689"/>
            <a:ext cx="5595257" cy="2576377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28" name="Rechte verbindingslijn 27">
            <a:extLst>
              <a:ext uri="{FF2B5EF4-FFF2-40B4-BE49-F238E27FC236}">
                <a16:creationId xmlns:a16="http://schemas.microsoft.com/office/drawing/2014/main" id="{36A0846F-209C-3F5E-7212-03A4B8D809E7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2329565" y="2252243"/>
            <a:ext cx="1" cy="1291446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Rechte verbindingslijn 29">
            <a:extLst>
              <a:ext uri="{FF2B5EF4-FFF2-40B4-BE49-F238E27FC236}">
                <a16:creationId xmlns:a16="http://schemas.microsoft.com/office/drawing/2014/main" id="{3969E108-CCE1-3FA1-5EF7-6B1AD709EDD1}"/>
              </a:ext>
            </a:extLst>
          </p:cNvPr>
          <p:cNvCxnSpPr>
            <a:cxnSpLocks/>
          </p:cNvCxnSpPr>
          <p:nvPr/>
        </p:nvCxnSpPr>
        <p:spPr>
          <a:xfrm>
            <a:off x="10562275" y="2321493"/>
            <a:ext cx="0" cy="1222196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67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Soorten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Machine-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Learningmodellen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(2)</a:t>
            </a: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D403D28-38E6-E976-8636-3F973FB2541F}"/>
              </a:ext>
            </a:extLst>
          </p:cNvPr>
          <p:cNvCxnSpPr>
            <a:cxnSpLocks/>
          </p:cNvCxnSpPr>
          <p:nvPr/>
        </p:nvCxnSpPr>
        <p:spPr>
          <a:xfrm>
            <a:off x="988290" y="1188762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6EBBAAF-064A-A99B-AEE5-4D6114FC22DD}"/>
              </a:ext>
            </a:extLst>
          </p:cNvPr>
          <p:cNvCxnSpPr>
            <a:cxnSpLocks/>
          </p:cNvCxnSpPr>
          <p:nvPr/>
        </p:nvCxnSpPr>
        <p:spPr>
          <a:xfrm flipV="1">
            <a:off x="6422997" y="1213391"/>
            <a:ext cx="0" cy="5644609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">
            <a:extLst>
              <a:ext uri="{FF2B5EF4-FFF2-40B4-BE49-F238E27FC236}">
                <a16:creationId xmlns:a16="http://schemas.microsoft.com/office/drawing/2014/main" id="{00251B71-3E87-E159-84CA-8CBA38F29A15}"/>
              </a:ext>
            </a:extLst>
          </p:cNvPr>
          <p:cNvSpPr txBox="1"/>
          <p:nvPr/>
        </p:nvSpPr>
        <p:spPr>
          <a:xfrm>
            <a:off x="1617156" y="1213391"/>
            <a:ext cx="43315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Supervised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deze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week)</a:t>
            </a:r>
          </a:p>
        </p:txBody>
      </p:sp>
      <p:sp>
        <p:nvSpPr>
          <p:cNvPr id="19" name="TextBox 1">
            <a:extLst>
              <a:ext uri="{FF2B5EF4-FFF2-40B4-BE49-F238E27FC236}">
                <a16:creationId xmlns:a16="http://schemas.microsoft.com/office/drawing/2014/main" id="{915C875B-B26A-2F79-6FBB-4D96A68FF464}"/>
              </a:ext>
            </a:extLst>
          </p:cNvPr>
          <p:cNvSpPr txBox="1"/>
          <p:nvPr/>
        </p:nvSpPr>
        <p:spPr>
          <a:xfrm>
            <a:off x="6737629" y="1243733"/>
            <a:ext cx="5428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Unsupervised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volgende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week)</a:t>
            </a:r>
          </a:p>
        </p:txBody>
      </p:sp>
      <p:cxnSp>
        <p:nvCxnSpPr>
          <p:cNvPr id="10" name="Straight Connector 10">
            <a:extLst>
              <a:ext uri="{FF2B5EF4-FFF2-40B4-BE49-F238E27FC236}">
                <a16:creationId xmlns:a16="http://schemas.microsoft.com/office/drawing/2014/main" id="{5622B3C4-14D3-9E44-A253-02726EB05A8E}"/>
              </a:ext>
            </a:extLst>
          </p:cNvPr>
          <p:cNvCxnSpPr>
            <a:cxnSpLocks/>
          </p:cNvCxnSpPr>
          <p:nvPr/>
        </p:nvCxnSpPr>
        <p:spPr>
          <a:xfrm>
            <a:off x="988290" y="642841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kstvak 10">
            <a:extLst>
              <a:ext uri="{FF2B5EF4-FFF2-40B4-BE49-F238E27FC236}">
                <a16:creationId xmlns:a16="http://schemas.microsoft.com/office/drawing/2014/main" id="{123A045A-3F4D-0BA3-1B94-5D543E9BA9B8}"/>
              </a:ext>
            </a:extLst>
          </p:cNvPr>
          <p:cNvSpPr txBox="1"/>
          <p:nvPr/>
        </p:nvSpPr>
        <p:spPr>
          <a:xfrm>
            <a:off x="975693" y="725202"/>
            <a:ext cx="110651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/>
              <a:t>Doel: het produceren van voorspellingen die zoveel mogelijk overeenkomen met de werkelijkheid</a:t>
            </a:r>
          </a:p>
        </p:txBody>
      </p:sp>
      <p:pic>
        <p:nvPicPr>
          <p:cNvPr id="2052" name="Picture 4" descr="Business man, male, user, avatar, profile, person, man icon - Free download">
            <a:extLst>
              <a:ext uri="{FF2B5EF4-FFF2-40B4-BE49-F238E27FC236}">
                <a16:creationId xmlns:a16="http://schemas.microsoft.com/office/drawing/2014/main" id="{4BD0112F-4202-EC67-C7F8-1B4169303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033" y="3516436"/>
            <a:ext cx="1769804" cy="176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obot Face Emoji (U+1F916)">
            <a:extLst>
              <a:ext uri="{FF2B5EF4-FFF2-40B4-BE49-F238E27FC236}">
                <a16:creationId xmlns:a16="http://schemas.microsoft.com/office/drawing/2014/main" id="{1D3829F1-1F95-54F9-65C7-4DA6227EE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457" y="3413194"/>
            <a:ext cx="1941825" cy="194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kstballon: ovaal 16">
            <a:extLst>
              <a:ext uri="{FF2B5EF4-FFF2-40B4-BE49-F238E27FC236}">
                <a16:creationId xmlns:a16="http://schemas.microsoft.com/office/drawing/2014/main" id="{2A7F00C3-BC4C-E469-7EC8-43D6ABEF7D55}"/>
              </a:ext>
            </a:extLst>
          </p:cNvPr>
          <p:cNvSpPr/>
          <p:nvPr/>
        </p:nvSpPr>
        <p:spPr>
          <a:xfrm>
            <a:off x="4579993" y="2654710"/>
            <a:ext cx="1189011" cy="518080"/>
          </a:xfrm>
          <a:prstGeom prst="wedgeEllipseCallout">
            <a:avLst>
              <a:gd name="adj1" fmla="val -1022"/>
              <a:gd name="adj2" fmla="val 7193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/>
              <a:t>Nee</a:t>
            </a:r>
          </a:p>
        </p:txBody>
      </p:sp>
      <p:sp>
        <p:nvSpPr>
          <p:cNvPr id="18" name="Tekstballon: ovaal 17">
            <a:extLst>
              <a:ext uri="{FF2B5EF4-FFF2-40B4-BE49-F238E27FC236}">
                <a16:creationId xmlns:a16="http://schemas.microsoft.com/office/drawing/2014/main" id="{599CE431-EDBD-1C42-54B3-527ABC1ED1C9}"/>
              </a:ext>
            </a:extLst>
          </p:cNvPr>
          <p:cNvSpPr/>
          <p:nvPr/>
        </p:nvSpPr>
        <p:spPr>
          <a:xfrm>
            <a:off x="1010386" y="2449404"/>
            <a:ext cx="2630360" cy="1042219"/>
          </a:xfrm>
          <a:prstGeom prst="wedgeEllipseCallout">
            <a:avLst>
              <a:gd name="adj1" fmla="val -1022"/>
              <a:gd name="adj2" fmla="val 7193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Heeft &lt;passagier&gt; de ramp met de Titanic overleefd?</a:t>
            </a:r>
          </a:p>
        </p:txBody>
      </p:sp>
      <p:sp>
        <p:nvSpPr>
          <p:cNvPr id="20" name="Tekstballon: ovaal 19">
            <a:extLst>
              <a:ext uri="{FF2B5EF4-FFF2-40B4-BE49-F238E27FC236}">
                <a16:creationId xmlns:a16="http://schemas.microsoft.com/office/drawing/2014/main" id="{A8644CC6-2DCE-6EF5-A3A5-412975FF67AE}"/>
              </a:ext>
            </a:extLst>
          </p:cNvPr>
          <p:cNvSpPr/>
          <p:nvPr/>
        </p:nvSpPr>
        <p:spPr>
          <a:xfrm>
            <a:off x="2891123" y="6045827"/>
            <a:ext cx="1189011" cy="518080"/>
          </a:xfrm>
          <a:prstGeom prst="wedgeEllipseCallout">
            <a:avLst>
              <a:gd name="adj1" fmla="val -72965"/>
              <a:gd name="adj2" fmla="val -21274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/>
              <a:t>Juist wel!</a:t>
            </a:r>
          </a:p>
        </p:txBody>
      </p:sp>
      <p:pic>
        <p:nvPicPr>
          <p:cNvPr id="33" name="Picture 4" descr="Business man, male, user, avatar, profile, person, man icon - Free download">
            <a:extLst>
              <a:ext uri="{FF2B5EF4-FFF2-40B4-BE49-F238E27FC236}">
                <a16:creationId xmlns:a16="http://schemas.microsoft.com/office/drawing/2014/main" id="{2C96BB8F-EEEA-5EA0-AD8A-128784B7A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360" y="3541249"/>
            <a:ext cx="1769804" cy="176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6" descr="Robot Face Emoji (U+1F916)">
            <a:extLst>
              <a:ext uri="{FF2B5EF4-FFF2-40B4-BE49-F238E27FC236}">
                <a16:creationId xmlns:a16="http://schemas.microsoft.com/office/drawing/2014/main" id="{CEA139BC-C618-6B39-696B-536DB5EEF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3784" y="3438007"/>
            <a:ext cx="1941825" cy="194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kstballon: ovaal 34">
            <a:extLst>
              <a:ext uri="{FF2B5EF4-FFF2-40B4-BE49-F238E27FC236}">
                <a16:creationId xmlns:a16="http://schemas.microsoft.com/office/drawing/2014/main" id="{3B3CD2CC-D629-4E77-47DD-E63F208024F9}"/>
              </a:ext>
            </a:extLst>
          </p:cNvPr>
          <p:cNvSpPr/>
          <p:nvPr/>
        </p:nvSpPr>
        <p:spPr>
          <a:xfrm>
            <a:off x="9128641" y="2238583"/>
            <a:ext cx="2542859" cy="1253040"/>
          </a:xfrm>
          <a:prstGeom prst="wedgeEllipseCallout">
            <a:avLst>
              <a:gd name="adj1" fmla="val 4538"/>
              <a:gd name="adj2" fmla="val 6173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Klanten 1, 3 en 4 vormen een groep en klanten 2, 5 en 6 ook</a:t>
            </a:r>
          </a:p>
        </p:txBody>
      </p:sp>
      <p:sp>
        <p:nvSpPr>
          <p:cNvPr id="36" name="Tekstballon: ovaal 35">
            <a:extLst>
              <a:ext uri="{FF2B5EF4-FFF2-40B4-BE49-F238E27FC236}">
                <a16:creationId xmlns:a16="http://schemas.microsoft.com/office/drawing/2014/main" id="{2F462D0A-3E1A-F434-5AD7-333F427CC777}"/>
              </a:ext>
            </a:extLst>
          </p:cNvPr>
          <p:cNvSpPr/>
          <p:nvPr/>
        </p:nvSpPr>
        <p:spPr>
          <a:xfrm>
            <a:off x="6585713" y="2474217"/>
            <a:ext cx="2456819" cy="1042219"/>
          </a:xfrm>
          <a:prstGeom prst="wedgeEllipseCallout">
            <a:avLst>
              <a:gd name="adj1" fmla="val -1022"/>
              <a:gd name="adj2" fmla="val 7193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Kan je mijn 6 klanten opdelen in 2 groepen?</a:t>
            </a:r>
          </a:p>
        </p:txBody>
      </p:sp>
      <p:sp>
        <p:nvSpPr>
          <p:cNvPr id="37" name="Tekstballon: ovaal 36">
            <a:extLst>
              <a:ext uri="{FF2B5EF4-FFF2-40B4-BE49-F238E27FC236}">
                <a16:creationId xmlns:a16="http://schemas.microsoft.com/office/drawing/2014/main" id="{2E0E0CA6-DED2-4E90-56AB-5ABB7068B094}"/>
              </a:ext>
            </a:extLst>
          </p:cNvPr>
          <p:cNvSpPr/>
          <p:nvPr/>
        </p:nvSpPr>
        <p:spPr>
          <a:xfrm>
            <a:off x="7413530" y="5820697"/>
            <a:ext cx="2241932" cy="768023"/>
          </a:xfrm>
          <a:prstGeom prst="wedgeEllipseCallout">
            <a:avLst>
              <a:gd name="adj1" fmla="val -17268"/>
              <a:gd name="adj2" fmla="val -12184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err="1"/>
              <a:t>Oke</a:t>
            </a:r>
            <a:r>
              <a:rPr lang="nl-NL"/>
              <a:t>… als jij het zegt… ;-)</a:t>
            </a:r>
          </a:p>
        </p:txBody>
      </p:sp>
    </p:spTree>
    <p:extLst>
      <p:ext uri="{BB962C8B-B14F-4D97-AF65-F5344CB8AC3E}">
        <p14:creationId xmlns:p14="http://schemas.microsoft.com/office/powerpoint/2010/main" val="139380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5" grpId="0" animBg="1"/>
      <p:bldP spid="36" grpId="0" animBg="1"/>
      <p:bldP spid="3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2531828" y="-990"/>
            <a:ext cx="9139669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Soorten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Supervised Machine-</a:t>
            </a: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Learningmodellen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6EBBAAF-064A-A99B-AEE5-4D6114FC22DD}"/>
              </a:ext>
            </a:extLst>
          </p:cNvPr>
          <p:cNvCxnSpPr>
            <a:cxnSpLocks/>
          </p:cNvCxnSpPr>
          <p:nvPr/>
        </p:nvCxnSpPr>
        <p:spPr>
          <a:xfrm flipV="1">
            <a:off x="6422997" y="642841"/>
            <a:ext cx="0" cy="2519566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">
            <a:extLst>
              <a:ext uri="{FF2B5EF4-FFF2-40B4-BE49-F238E27FC236}">
                <a16:creationId xmlns:a16="http://schemas.microsoft.com/office/drawing/2014/main" id="{00251B71-3E87-E159-84CA-8CBA38F29A15}"/>
              </a:ext>
            </a:extLst>
          </p:cNvPr>
          <p:cNvSpPr txBox="1"/>
          <p:nvPr/>
        </p:nvSpPr>
        <p:spPr>
          <a:xfrm>
            <a:off x="1623681" y="703046"/>
            <a:ext cx="433152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Regressiemodellen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vandaag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</a:t>
            </a:r>
          </a:p>
          <a:p>
            <a:pPr lvl="0" algn="ctr"/>
            <a:r>
              <a:rPr lang="nl-NL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Als je afhankelijke variabele numerieke continue data bevat.</a:t>
            </a:r>
            <a:endParaRPr lang="en-US" sz="1600" dirty="0">
              <a:solidFill>
                <a:prstClr val="black"/>
              </a:solidFill>
              <a:latin typeface="Arial" panose="020B0604020202020204" pitchFamily="34" charset="0"/>
              <a:ea typeface="MS PGothic" charset="0"/>
              <a:cs typeface="Arial" panose="020B0604020202020204" pitchFamily="34" charset="0"/>
            </a:endParaRPr>
          </a:p>
        </p:txBody>
      </p:sp>
      <p:sp>
        <p:nvSpPr>
          <p:cNvPr id="19" name="TextBox 1">
            <a:extLst>
              <a:ext uri="{FF2B5EF4-FFF2-40B4-BE49-F238E27FC236}">
                <a16:creationId xmlns:a16="http://schemas.microsoft.com/office/drawing/2014/main" id="{915C875B-B26A-2F79-6FBB-4D96A68FF464}"/>
              </a:ext>
            </a:extLst>
          </p:cNvPr>
          <p:cNvSpPr txBox="1"/>
          <p:nvPr/>
        </p:nvSpPr>
        <p:spPr>
          <a:xfrm>
            <a:off x="6761361" y="703046"/>
            <a:ext cx="542818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Classificatiemodellen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volgende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les)</a:t>
            </a:r>
          </a:p>
          <a:p>
            <a:pPr algn="ctr"/>
            <a:r>
              <a:rPr kumimoji="0" lang="nl-N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Als je</a:t>
            </a:r>
            <a:r>
              <a:rPr kumimoji="0" lang="nl-NL" sz="16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afhankelijke variabele categorische data bevat, al dan niet numeriek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charset="0"/>
              <a:cs typeface="Arial" panose="020B0604020202020204" pitchFamily="34" charset="0"/>
            </a:endParaRPr>
          </a:p>
        </p:txBody>
      </p:sp>
      <p:cxnSp>
        <p:nvCxnSpPr>
          <p:cNvPr id="10" name="Straight Connector 10">
            <a:extLst>
              <a:ext uri="{FF2B5EF4-FFF2-40B4-BE49-F238E27FC236}">
                <a16:creationId xmlns:a16="http://schemas.microsoft.com/office/drawing/2014/main" id="{5622B3C4-14D3-9E44-A253-02726EB05A8E}"/>
              </a:ext>
            </a:extLst>
          </p:cNvPr>
          <p:cNvCxnSpPr>
            <a:cxnSpLocks/>
          </p:cNvCxnSpPr>
          <p:nvPr/>
        </p:nvCxnSpPr>
        <p:spPr>
          <a:xfrm>
            <a:off x="988290" y="642841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CF00E466-C43D-699A-A301-E7BDF904E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074" y="3267696"/>
            <a:ext cx="11065531" cy="1920406"/>
          </a:xfrm>
          <a:prstGeom prst="rect">
            <a:avLst/>
          </a:prstGeom>
        </p:spPr>
      </p:pic>
      <p:cxnSp>
        <p:nvCxnSpPr>
          <p:cNvPr id="14" name="Straight Connector 10">
            <a:extLst>
              <a:ext uri="{FF2B5EF4-FFF2-40B4-BE49-F238E27FC236}">
                <a16:creationId xmlns:a16="http://schemas.microsoft.com/office/drawing/2014/main" id="{1F1CCE43-5CFD-8933-C56B-BC4E90822335}"/>
              </a:ext>
            </a:extLst>
          </p:cNvPr>
          <p:cNvCxnSpPr>
            <a:cxnSpLocks/>
          </p:cNvCxnSpPr>
          <p:nvPr/>
        </p:nvCxnSpPr>
        <p:spPr>
          <a:xfrm>
            <a:off x="985831" y="3162407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">
            <a:extLst>
              <a:ext uri="{FF2B5EF4-FFF2-40B4-BE49-F238E27FC236}">
                <a16:creationId xmlns:a16="http://schemas.microsoft.com/office/drawing/2014/main" id="{2F759362-972B-4A59-10BB-1F29B1CC1583}"/>
              </a:ext>
            </a:extLst>
          </p:cNvPr>
          <p:cNvSpPr txBox="1"/>
          <p:nvPr/>
        </p:nvSpPr>
        <p:spPr>
          <a:xfrm>
            <a:off x="988290" y="1758230"/>
            <a:ext cx="525779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Variabelen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zijn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continu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als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…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Getallen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“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tussenwaarden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”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kunnen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hebben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(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bijvoorbeeld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X,1; X,5; X,9;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enzovoort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).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Bijvoorbeeld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lengte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gewicht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/of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temperatuur</a:t>
            </a:r>
            <a:endParaRPr lang="en-US" sz="1600" dirty="0">
              <a:solidFill>
                <a:prstClr val="black"/>
              </a:solidFill>
              <a:latin typeface="Arial" panose="020B0604020202020204" pitchFamily="34" charset="0"/>
              <a:ea typeface="MS PGothic" charset="0"/>
              <a:cs typeface="Arial" panose="020B0604020202020204" pitchFamily="34" charset="0"/>
            </a:endParaRPr>
          </a:p>
        </p:txBody>
      </p:sp>
      <p:sp>
        <p:nvSpPr>
          <p:cNvPr id="22" name="TextBox 1">
            <a:extLst>
              <a:ext uri="{FF2B5EF4-FFF2-40B4-BE49-F238E27FC236}">
                <a16:creationId xmlns:a16="http://schemas.microsoft.com/office/drawing/2014/main" id="{4E2F28F4-A12E-6CD9-CBEF-18DE13FE3969}"/>
              </a:ext>
            </a:extLst>
          </p:cNvPr>
          <p:cNvSpPr txBox="1"/>
          <p:nvPr/>
        </p:nvSpPr>
        <p:spPr>
          <a:xfrm>
            <a:off x="6422997" y="1754324"/>
            <a:ext cx="58307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Variabelen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zijn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categorisch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als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…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Zij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geen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getallen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bevatten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óf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wel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getallen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bevatten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, maar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tussenwaarden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niet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mogelijk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zijn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(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bijvoorbeeld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omdat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alleen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de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getallen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1 t/m 5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toegestaan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zijn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).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Bijvoorbeeld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geslacht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burgerlijke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staat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/of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beoordelingen</a:t>
            </a:r>
            <a:endParaRPr lang="en-US" sz="1600" dirty="0">
              <a:solidFill>
                <a:prstClr val="black"/>
              </a:solidFill>
              <a:latin typeface="Arial" panose="020B0604020202020204" pitchFamily="34" charset="0"/>
              <a:ea typeface="MS PGothic" charset="0"/>
              <a:cs typeface="Arial" panose="020B0604020202020204" pitchFamily="34" charset="0"/>
            </a:endParaRPr>
          </a:p>
        </p:txBody>
      </p:sp>
      <p:sp>
        <p:nvSpPr>
          <p:cNvPr id="23" name="TextBox 1">
            <a:extLst>
              <a:ext uri="{FF2B5EF4-FFF2-40B4-BE49-F238E27FC236}">
                <a16:creationId xmlns:a16="http://schemas.microsoft.com/office/drawing/2014/main" id="{927D8258-43C6-29C3-2567-9B41F83E76BD}"/>
              </a:ext>
            </a:extLst>
          </p:cNvPr>
          <p:cNvSpPr txBox="1"/>
          <p:nvPr/>
        </p:nvSpPr>
        <p:spPr>
          <a:xfrm>
            <a:off x="1082508" y="5799660"/>
            <a:ext cx="37555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Is Age </a:t>
            </a:r>
            <a:r>
              <a:rPr lang="en-US" sz="1600" b="1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continu</a:t>
            </a:r>
            <a:r>
              <a:rPr lang="en-US" sz="1600" b="1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Ja, want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iemand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kan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bijvoorbeeld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22,5; 38,5;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enzovoort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jaar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oud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zijn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4" name="TextBox 1">
            <a:extLst>
              <a:ext uri="{FF2B5EF4-FFF2-40B4-BE49-F238E27FC236}">
                <a16:creationId xmlns:a16="http://schemas.microsoft.com/office/drawing/2014/main" id="{6F9E254D-525D-DF19-4B8A-BFA999B64FAE}"/>
              </a:ext>
            </a:extLst>
          </p:cNvPr>
          <p:cNvSpPr txBox="1"/>
          <p:nvPr/>
        </p:nvSpPr>
        <p:spPr>
          <a:xfrm>
            <a:off x="8498140" y="5795387"/>
            <a:ext cx="37555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Is Survived </a:t>
            </a:r>
            <a:r>
              <a:rPr lang="en-US" sz="1600" b="1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continu</a:t>
            </a:r>
            <a:r>
              <a:rPr lang="en-US" sz="1600" b="1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Nee! Je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kan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hier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alleen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de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getallen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0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1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invullen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!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Getallen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als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0,5; 0,2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enzovoort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zijn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hier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dus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niet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mogelijk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9C4EFA2C-F0DE-99AA-A52B-6D2F70A075B0}"/>
              </a:ext>
            </a:extLst>
          </p:cNvPr>
          <p:cNvSpPr txBox="1"/>
          <p:nvPr/>
        </p:nvSpPr>
        <p:spPr>
          <a:xfrm>
            <a:off x="4790324" y="5795386"/>
            <a:ext cx="37555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Is Ticket </a:t>
            </a:r>
            <a:r>
              <a:rPr lang="en-US" sz="1600" b="1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continu</a:t>
            </a:r>
            <a:r>
              <a:rPr lang="en-US" sz="1600" b="1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Nee!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Hier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zijn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namelijk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geen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getallen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ingevuld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160507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988290" y="-990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Een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procesmodel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voor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Data Science: CRISP DM</a:t>
            </a: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D403D28-38E6-E976-8636-3F973FB2541F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What is CRISP DM? - Data Science Process Alliance">
            <a:extLst>
              <a:ext uri="{FF2B5EF4-FFF2-40B4-BE49-F238E27FC236}">
                <a16:creationId xmlns:a16="http://schemas.microsoft.com/office/drawing/2014/main" id="{992E2177-2B03-649A-6E12-E783370AE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767" y="812800"/>
            <a:ext cx="7193934" cy="588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59311F9F-EFDD-A7AA-DA1D-857067D92F63}"/>
              </a:ext>
            </a:extLst>
          </p:cNvPr>
          <p:cNvSpPr/>
          <p:nvPr/>
        </p:nvSpPr>
        <p:spPr>
          <a:xfrm>
            <a:off x="6096000" y="2978778"/>
            <a:ext cx="1436914" cy="606478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BA5480BE-FB07-B33D-294F-FBF7B01FFD21}"/>
              </a:ext>
            </a:extLst>
          </p:cNvPr>
          <p:cNvSpPr/>
          <p:nvPr/>
        </p:nvSpPr>
        <p:spPr>
          <a:xfrm>
            <a:off x="6096000" y="3970933"/>
            <a:ext cx="1436914" cy="606478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0CE813B5-3BC2-2DD7-816D-51BCEC82F133}"/>
              </a:ext>
            </a:extLst>
          </p:cNvPr>
          <p:cNvSpPr txBox="1"/>
          <p:nvPr/>
        </p:nvSpPr>
        <p:spPr>
          <a:xfrm>
            <a:off x="8392592" y="1250692"/>
            <a:ext cx="3756972" cy="1754326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Afhankelijke en onafhankelijke variabelen herkennen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Niet-numerieke waarden afhandelen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De train- en </a:t>
            </a:r>
            <a:r>
              <a:rPr lang="nl-NL" dirty="0" err="1"/>
              <a:t>testset</a:t>
            </a:r>
            <a:r>
              <a:rPr lang="nl-NL" dirty="0"/>
              <a:t> maken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De dataset opknippen in 4 stukken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16478AE5-DEFB-E41E-F4AC-2D1F3BD738D5}"/>
              </a:ext>
            </a:extLst>
          </p:cNvPr>
          <p:cNvSpPr txBox="1"/>
          <p:nvPr/>
        </p:nvSpPr>
        <p:spPr>
          <a:xfrm>
            <a:off x="8392592" y="4389309"/>
            <a:ext cx="3756972" cy="1477328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Soorten Machine Learning herkennen.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Soorten </a:t>
            </a:r>
            <a:r>
              <a:rPr lang="nl-NL" i="1" u="sng" dirty="0" err="1"/>
              <a:t>supervised</a:t>
            </a:r>
            <a:r>
              <a:rPr lang="nl-NL" dirty="0"/>
              <a:t> Machine Learning herkennen.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i="1" u="sng" dirty="0"/>
              <a:t>Regressiemodellen</a:t>
            </a:r>
            <a:r>
              <a:rPr lang="nl-NL" dirty="0"/>
              <a:t> maken.</a:t>
            </a:r>
          </a:p>
        </p:txBody>
      </p:sp>
      <p:cxnSp>
        <p:nvCxnSpPr>
          <p:cNvPr id="14" name="Rechte verbindingslijn 13">
            <a:extLst>
              <a:ext uri="{FF2B5EF4-FFF2-40B4-BE49-F238E27FC236}">
                <a16:creationId xmlns:a16="http://schemas.microsoft.com/office/drawing/2014/main" id="{36F67015-18F7-63D7-62CE-A8A504444EC6}"/>
              </a:ext>
            </a:extLst>
          </p:cNvPr>
          <p:cNvCxnSpPr>
            <a:cxnSpLocks/>
          </p:cNvCxnSpPr>
          <p:nvPr/>
        </p:nvCxnSpPr>
        <p:spPr>
          <a:xfrm flipH="1">
            <a:off x="7532913" y="2978778"/>
            <a:ext cx="859679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Rechte verbindingslijn 16">
            <a:extLst>
              <a:ext uri="{FF2B5EF4-FFF2-40B4-BE49-F238E27FC236}">
                <a16:creationId xmlns:a16="http://schemas.microsoft.com/office/drawing/2014/main" id="{186DF8B3-FD55-3BF5-0EE9-19551400E2AD}"/>
              </a:ext>
            </a:extLst>
          </p:cNvPr>
          <p:cNvCxnSpPr>
            <a:cxnSpLocks/>
          </p:cNvCxnSpPr>
          <p:nvPr/>
        </p:nvCxnSpPr>
        <p:spPr>
          <a:xfrm flipH="1">
            <a:off x="7532913" y="4385401"/>
            <a:ext cx="859679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hthoek 19">
            <a:extLst>
              <a:ext uri="{FF2B5EF4-FFF2-40B4-BE49-F238E27FC236}">
                <a16:creationId xmlns:a16="http://schemas.microsoft.com/office/drawing/2014/main" id="{1D28A578-697A-77C6-94F1-8E175B1F37F1}"/>
              </a:ext>
            </a:extLst>
          </p:cNvPr>
          <p:cNvSpPr/>
          <p:nvPr/>
        </p:nvSpPr>
        <p:spPr>
          <a:xfrm>
            <a:off x="4568890" y="5140370"/>
            <a:ext cx="1436914" cy="606478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2" name="Rechthoek 21">
            <a:extLst>
              <a:ext uri="{FF2B5EF4-FFF2-40B4-BE49-F238E27FC236}">
                <a16:creationId xmlns:a16="http://schemas.microsoft.com/office/drawing/2014/main" id="{6F57F031-F70B-0810-F8AA-A5B81F556230}"/>
              </a:ext>
            </a:extLst>
          </p:cNvPr>
          <p:cNvSpPr/>
          <p:nvPr/>
        </p:nvSpPr>
        <p:spPr>
          <a:xfrm>
            <a:off x="1085765" y="5686847"/>
            <a:ext cx="1962661" cy="913575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Uitkomsten van regressiemodellen evalueren</a:t>
            </a:r>
          </a:p>
        </p:txBody>
      </p:sp>
      <p:cxnSp>
        <p:nvCxnSpPr>
          <p:cNvPr id="23" name="Rechte verbindingslijn 22">
            <a:extLst>
              <a:ext uri="{FF2B5EF4-FFF2-40B4-BE49-F238E27FC236}">
                <a16:creationId xmlns:a16="http://schemas.microsoft.com/office/drawing/2014/main" id="{8423C4AA-1096-BCEA-CA92-15AABCB63B2C}"/>
              </a:ext>
            </a:extLst>
          </p:cNvPr>
          <p:cNvCxnSpPr>
            <a:cxnSpLocks/>
          </p:cNvCxnSpPr>
          <p:nvPr/>
        </p:nvCxnSpPr>
        <p:spPr>
          <a:xfrm flipH="1">
            <a:off x="3048426" y="5686847"/>
            <a:ext cx="1520464" cy="5423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407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2" grpId="0" animBg="1"/>
      <p:bldP spid="20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BA269D03-4CD4-A824-783F-AFAA660F0E45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E0E66AFB-DF6F-DB65-946D-3F73E052EE22}"/>
              </a:ext>
            </a:extLst>
          </p:cNvPr>
          <p:cNvSpPr txBox="1"/>
          <p:nvPr/>
        </p:nvSpPr>
        <p:spPr>
          <a:xfrm>
            <a:off x="2777658" y="-10754"/>
            <a:ext cx="814444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Onafhankelijke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afhankelijke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variabelen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262CF38-BB42-BEB5-C710-06267CB16BFA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kstvak 26">
            <a:extLst>
              <a:ext uri="{FF2B5EF4-FFF2-40B4-BE49-F238E27FC236}">
                <a16:creationId xmlns:a16="http://schemas.microsoft.com/office/drawing/2014/main" id="{AA2BA045-8B04-6A83-F966-2BA7FE05CB93}"/>
              </a:ext>
            </a:extLst>
          </p:cNvPr>
          <p:cNvSpPr txBox="1"/>
          <p:nvPr/>
        </p:nvSpPr>
        <p:spPr>
          <a:xfrm>
            <a:off x="988290" y="934509"/>
            <a:ext cx="110651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De </a:t>
            </a:r>
            <a:r>
              <a:rPr lang="nl-NL" b="1" u="sng" dirty="0">
                <a:solidFill>
                  <a:srgbClr val="0070C0"/>
                </a:solidFill>
              </a:rPr>
              <a:t>afhankelijke variabele</a:t>
            </a:r>
            <a:r>
              <a:rPr lang="nl-NL" dirty="0">
                <a:solidFill>
                  <a:srgbClr val="0070C0"/>
                </a:solidFill>
              </a:rPr>
              <a:t> </a:t>
            </a:r>
            <a:r>
              <a:rPr lang="nl-NL" dirty="0"/>
              <a:t>is datgene wat je wilt voorspellen op basis van de </a:t>
            </a:r>
            <a:r>
              <a:rPr lang="nl-NL" b="1" u="sng" dirty="0">
                <a:solidFill>
                  <a:srgbClr val="7030A0"/>
                </a:solidFill>
              </a:rPr>
              <a:t>onafhankelijke variabelen</a:t>
            </a:r>
          </a:p>
          <a:p>
            <a:pPr algn="ctr"/>
            <a:r>
              <a:rPr lang="nl-NL" dirty="0"/>
              <a:t>Voorbeeld leeftijdsvoorspeller: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46EB6567-41C8-B888-7B75-BB6016F07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90" y="1667496"/>
            <a:ext cx="11065531" cy="1920406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B66AA7A8-99F8-57F2-8FF7-F4E98BE17CFC}"/>
              </a:ext>
            </a:extLst>
          </p:cNvPr>
          <p:cNvSpPr/>
          <p:nvPr/>
        </p:nvSpPr>
        <p:spPr>
          <a:xfrm>
            <a:off x="988290" y="1667496"/>
            <a:ext cx="10143536" cy="1920406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14FB4152-C814-CB87-AF3F-BEB9752B50A7}"/>
              </a:ext>
            </a:extLst>
          </p:cNvPr>
          <p:cNvSpPr/>
          <p:nvPr/>
        </p:nvSpPr>
        <p:spPr>
          <a:xfrm>
            <a:off x="11131825" y="1667496"/>
            <a:ext cx="921605" cy="1920406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9" name="Straight Connector 10">
            <a:extLst>
              <a:ext uri="{FF2B5EF4-FFF2-40B4-BE49-F238E27FC236}">
                <a16:creationId xmlns:a16="http://schemas.microsoft.com/office/drawing/2014/main" id="{BC9DBD6A-9277-FB41-479D-C0767BE17665}"/>
              </a:ext>
            </a:extLst>
          </p:cNvPr>
          <p:cNvCxnSpPr>
            <a:cxnSpLocks/>
          </p:cNvCxnSpPr>
          <p:nvPr/>
        </p:nvCxnSpPr>
        <p:spPr>
          <a:xfrm>
            <a:off x="988290" y="3797852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kstvak 11">
            <a:extLst>
              <a:ext uri="{FF2B5EF4-FFF2-40B4-BE49-F238E27FC236}">
                <a16:creationId xmlns:a16="http://schemas.microsoft.com/office/drawing/2014/main" id="{8A1E9AB5-30B7-6E60-C21B-5155E5429B18}"/>
              </a:ext>
            </a:extLst>
          </p:cNvPr>
          <p:cNvSpPr txBox="1"/>
          <p:nvPr/>
        </p:nvSpPr>
        <p:spPr>
          <a:xfrm>
            <a:off x="3652631" y="3925164"/>
            <a:ext cx="6112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Voorbeeld </a:t>
            </a:r>
            <a:r>
              <a:rPr lang="nl-NL" dirty="0" err="1"/>
              <a:t>survived</a:t>
            </a:r>
            <a:r>
              <a:rPr lang="nl-NL" dirty="0"/>
              <a:t>-voorspeller: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8ACA0ACB-00C4-D863-D3BC-8A4CBB91A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379" y="4442597"/>
            <a:ext cx="11065531" cy="2216620"/>
          </a:xfrm>
          <a:prstGeom prst="rect">
            <a:avLst/>
          </a:prstGeom>
        </p:spPr>
      </p:pic>
      <p:sp>
        <p:nvSpPr>
          <p:cNvPr id="14" name="Rechthoek 13">
            <a:extLst>
              <a:ext uri="{FF2B5EF4-FFF2-40B4-BE49-F238E27FC236}">
                <a16:creationId xmlns:a16="http://schemas.microsoft.com/office/drawing/2014/main" id="{1FBD0C74-90E6-1E49-AD2D-D5A10383DD37}"/>
              </a:ext>
            </a:extLst>
          </p:cNvPr>
          <p:cNvSpPr/>
          <p:nvPr/>
        </p:nvSpPr>
        <p:spPr>
          <a:xfrm>
            <a:off x="1057379" y="4421806"/>
            <a:ext cx="9289256" cy="2237409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C9B3DF69-FE0F-5275-11BE-25FB18C6C3D7}"/>
              </a:ext>
            </a:extLst>
          </p:cNvPr>
          <p:cNvSpPr/>
          <p:nvPr/>
        </p:nvSpPr>
        <p:spPr>
          <a:xfrm>
            <a:off x="11270395" y="4421804"/>
            <a:ext cx="921605" cy="2237408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Rechthoek 14">
            <a:extLst>
              <a:ext uri="{FF2B5EF4-FFF2-40B4-BE49-F238E27FC236}">
                <a16:creationId xmlns:a16="http://schemas.microsoft.com/office/drawing/2014/main" id="{F2EF58C0-FB92-6C2C-86F3-9BF212CEE6CE}"/>
              </a:ext>
            </a:extLst>
          </p:cNvPr>
          <p:cNvSpPr/>
          <p:nvPr/>
        </p:nvSpPr>
        <p:spPr>
          <a:xfrm>
            <a:off x="10346635" y="4421804"/>
            <a:ext cx="921605" cy="2237408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25231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2" grpId="0"/>
      <p:bldP spid="14" grpId="0" animBg="1"/>
      <p:bldP spid="16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975693" y="-990"/>
            <a:ext cx="11259089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Het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afhandelen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van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niet-numerieke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onafhankelijke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variabelen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cxnSp>
        <p:nvCxnSpPr>
          <p:cNvPr id="10" name="Straight Connector 10">
            <a:extLst>
              <a:ext uri="{FF2B5EF4-FFF2-40B4-BE49-F238E27FC236}">
                <a16:creationId xmlns:a16="http://schemas.microsoft.com/office/drawing/2014/main" id="{5622B3C4-14D3-9E44-A253-02726EB05A8E}"/>
              </a:ext>
            </a:extLst>
          </p:cNvPr>
          <p:cNvCxnSpPr>
            <a:cxnSpLocks/>
          </p:cNvCxnSpPr>
          <p:nvPr/>
        </p:nvCxnSpPr>
        <p:spPr>
          <a:xfrm>
            <a:off x="988290" y="642841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0">
            <a:extLst>
              <a:ext uri="{FF2B5EF4-FFF2-40B4-BE49-F238E27FC236}">
                <a16:creationId xmlns:a16="http://schemas.microsoft.com/office/drawing/2014/main" id="{E339E64B-EB1F-647E-CD87-86EE450E58FE}"/>
              </a:ext>
            </a:extLst>
          </p:cNvPr>
          <p:cNvCxnSpPr>
            <a:cxnSpLocks/>
          </p:cNvCxnSpPr>
          <p:nvPr/>
        </p:nvCxnSpPr>
        <p:spPr>
          <a:xfrm>
            <a:off x="988290" y="1331954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kstvak 12">
            <a:extLst>
              <a:ext uri="{FF2B5EF4-FFF2-40B4-BE49-F238E27FC236}">
                <a16:creationId xmlns:a16="http://schemas.microsoft.com/office/drawing/2014/main" id="{5087821D-1F15-77AF-B3C0-358B9CA2D35D}"/>
              </a:ext>
            </a:extLst>
          </p:cNvPr>
          <p:cNvSpPr txBox="1"/>
          <p:nvPr/>
        </p:nvSpPr>
        <p:spPr>
          <a:xfrm>
            <a:off x="1021749" y="649257"/>
            <a:ext cx="110651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In regressiemodellen moeten onafhankelijke variabelen numeriek zijn!</a:t>
            </a:r>
          </a:p>
          <a:p>
            <a:pPr algn="ctr"/>
            <a:r>
              <a:rPr lang="nl-NL" dirty="0"/>
              <a:t>Met </a:t>
            </a:r>
            <a:r>
              <a:rPr lang="nl-NL" dirty="0" err="1"/>
              <a:t>one</a:t>
            </a:r>
            <a:r>
              <a:rPr lang="nl-NL" dirty="0"/>
              <a:t>-hot </a:t>
            </a:r>
            <a:r>
              <a:rPr lang="nl-NL" dirty="0" err="1"/>
              <a:t>encoding</a:t>
            </a:r>
            <a:r>
              <a:rPr lang="nl-NL" dirty="0"/>
              <a:t> kun je categorische variabelen naar numerieke omzetten.</a:t>
            </a:r>
          </a:p>
        </p:txBody>
      </p:sp>
      <p:pic>
        <p:nvPicPr>
          <p:cNvPr id="17" name="Afbeelding 16">
            <a:extLst>
              <a:ext uri="{FF2B5EF4-FFF2-40B4-BE49-F238E27FC236}">
                <a16:creationId xmlns:a16="http://schemas.microsoft.com/office/drawing/2014/main" id="{EEF4B9FE-F73D-49E7-5A13-494AC532F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340" y="1574193"/>
            <a:ext cx="5524979" cy="4091112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DE12D68E-27AB-A1DD-1ACA-32780BB91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85" y="1574192"/>
            <a:ext cx="2512749" cy="4091112"/>
          </a:xfrm>
          <a:prstGeom prst="rect">
            <a:avLst/>
          </a:prstGeom>
        </p:spPr>
      </p:pic>
      <p:sp>
        <p:nvSpPr>
          <p:cNvPr id="20" name="Pijl: rechts 19">
            <a:extLst>
              <a:ext uri="{FF2B5EF4-FFF2-40B4-BE49-F238E27FC236}">
                <a16:creationId xmlns:a16="http://schemas.microsoft.com/office/drawing/2014/main" id="{18ABD6C1-0592-7687-E881-67C42B8ED585}"/>
              </a:ext>
            </a:extLst>
          </p:cNvPr>
          <p:cNvSpPr/>
          <p:nvPr/>
        </p:nvSpPr>
        <p:spPr>
          <a:xfrm>
            <a:off x="6784827" y="2604059"/>
            <a:ext cx="2594113" cy="7752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One</a:t>
            </a:r>
            <a:r>
              <a:rPr lang="nl-NL" dirty="0"/>
              <a:t>-hot </a:t>
            </a:r>
            <a:r>
              <a:rPr lang="nl-NL" dirty="0" err="1"/>
              <a:t>encoding</a:t>
            </a:r>
            <a:endParaRPr lang="nl-NL" dirty="0"/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90BF1A2D-8543-8CEF-F51F-443503F4E22D}"/>
              </a:ext>
            </a:extLst>
          </p:cNvPr>
          <p:cNvSpPr txBox="1"/>
          <p:nvPr/>
        </p:nvSpPr>
        <p:spPr>
          <a:xfrm>
            <a:off x="6784827" y="3478695"/>
            <a:ext cx="251274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Per mogelijke waarde van een niet-numerieke kolom ontstaat een extra wel-numerieke kolom.</a:t>
            </a:r>
          </a:p>
          <a:p>
            <a:pPr algn="ctr"/>
            <a:endParaRPr lang="nl-NL" dirty="0"/>
          </a:p>
          <a:p>
            <a:pPr algn="ctr"/>
            <a:r>
              <a:rPr lang="nl-NL" dirty="0" err="1"/>
              <a:t>False</a:t>
            </a:r>
            <a:r>
              <a:rPr lang="nl-NL" dirty="0"/>
              <a:t> &amp; True refereren automatisch naar 0 en 1</a:t>
            </a: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7A33514B-9495-F40E-1D11-AC518F01E562}"/>
              </a:ext>
            </a:extLst>
          </p:cNvPr>
          <p:cNvSpPr txBox="1"/>
          <p:nvPr/>
        </p:nvSpPr>
        <p:spPr>
          <a:xfrm>
            <a:off x="1021749" y="6024724"/>
            <a:ext cx="11057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b="1" u="sng" dirty="0"/>
              <a:t>Let op:</a:t>
            </a:r>
            <a:r>
              <a:rPr lang="nl-NL" dirty="0"/>
              <a:t> verwijder kolommen waarvan de waarde per rij verschilt (bijv. ‘Name’), i.p.v. deze te </a:t>
            </a:r>
            <a:r>
              <a:rPr lang="nl-NL" dirty="0" err="1"/>
              <a:t>one</a:t>
            </a:r>
            <a:r>
              <a:rPr lang="nl-NL" dirty="0"/>
              <a:t>-hot </a:t>
            </a:r>
            <a:r>
              <a:rPr lang="nl-NL" dirty="0" err="1"/>
              <a:t>encoden</a:t>
            </a:r>
            <a:r>
              <a:rPr lang="nl-NL" dirty="0"/>
              <a:t>.</a:t>
            </a:r>
          </a:p>
          <a:p>
            <a:pPr algn="ctr"/>
            <a:r>
              <a:rPr lang="nl-NL" dirty="0"/>
              <a:t>Anders krijg je namelijk enorm veel extra kolommen die amper extra voorspellende waarde hebben.</a:t>
            </a:r>
          </a:p>
        </p:txBody>
      </p:sp>
    </p:spTree>
    <p:extLst>
      <p:ext uri="{BB962C8B-B14F-4D97-AF65-F5344CB8AC3E}">
        <p14:creationId xmlns:p14="http://schemas.microsoft.com/office/powerpoint/2010/main" val="1642861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Afbeelding 46">
            <a:extLst>
              <a:ext uri="{FF2B5EF4-FFF2-40B4-BE49-F238E27FC236}">
                <a16:creationId xmlns:a16="http://schemas.microsoft.com/office/drawing/2014/main" id="{B42C0EED-ACB2-DB99-0709-0D307B7AC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158" y="2324092"/>
            <a:ext cx="5362791" cy="4454393"/>
          </a:xfrm>
          <a:prstGeom prst="rect">
            <a:avLst/>
          </a:prstGeom>
        </p:spPr>
      </p:pic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kumimoji="0" lang="nl-NL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De train- en de </a:t>
            </a:r>
            <a:r>
              <a:rPr kumimoji="0" lang="nl-NL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testset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D403D28-38E6-E976-8636-3F973FB2541F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6EBBAAF-064A-A99B-AEE5-4D6114FC22DD}"/>
              </a:ext>
            </a:extLst>
          </p:cNvPr>
          <p:cNvCxnSpPr>
            <a:cxnSpLocks/>
          </p:cNvCxnSpPr>
          <p:nvPr/>
        </p:nvCxnSpPr>
        <p:spPr>
          <a:xfrm flipV="1">
            <a:off x="6600083" y="1432339"/>
            <a:ext cx="0" cy="5425661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">
            <a:extLst>
              <a:ext uri="{FF2B5EF4-FFF2-40B4-BE49-F238E27FC236}">
                <a16:creationId xmlns:a16="http://schemas.microsoft.com/office/drawing/2014/main" id="{00251B71-3E87-E159-84CA-8CBA38F29A15}"/>
              </a:ext>
            </a:extLst>
          </p:cNvPr>
          <p:cNvSpPr txBox="1"/>
          <p:nvPr/>
        </p:nvSpPr>
        <p:spPr>
          <a:xfrm>
            <a:off x="1987372" y="1482154"/>
            <a:ext cx="3649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Trainset</a:t>
            </a:r>
            <a:endParaRPr lang="nl-NL" sz="2000" dirty="0"/>
          </a:p>
        </p:txBody>
      </p:sp>
      <p:sp>
        <p:nvSpPr>
          <p:cNvPr id="19" name="TextBox 1">
            <a:extLst>
              <a:ext uri="{FF2B5EF4-FFF2-40B4-BE49-F238E27FC236}">
                <a16:creationId xmlns:a16="http://schemas.microsoft.com/office/drawing/2014/main" id="{915C875B-B26A-2F79-6FBB-4D96A68FF464}"/>
              </a:ext>
            </a:extLst>
          </p:cNvPr>
          <p:cNvSpPr txBox="1"/>
          <p:nvPr/>
        </p:nvSpPr>
        <p:spPr>
          <a:xfrm>
            <a:off x="8276118" y="1458866"/>
            <a:ext cx="2823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Testset</a:t>
            </a:r>
            <a:endParaRPr lang="nl-NL" sz="2000" dirty="0"/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57750D54-BD22-476C-2E8A-E4F71F8EEE40}"/>
              </a:ext>
            </a:extLst>
          </p:cNvPr>
          <p:cNvSpPr txBox="1"/>
          <p:nvPr/>
        </p:nvSpPr>
        <p:spPr>
          <a:xfrm>
            <a:off x="988290" y="934509"/>
            <a:ext cx="110651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Alle rijen uit een bepaalde dataset worden onderverdeeld in een </a:t>
            </a:r>
            <a:r>
              <a:rPr lang="nl-NL" dirty="0" err="1"/>
              <a:t>trainset</a:t>
            </a:r>
            <a:r>
              <a:rPr lang="nl-NL" dirty="0"/>
              <a:t> (ong. 85%) en een </a:t>
            </a:r>
            <a:r>
              <a:rPr lang="nl-NL" dirty="0" err="1"/>
              <a:t>testset</a:t>
            </a:r>
            <a:r>
              <a:rPr lang="nl-NL" dirty="0"/>
              <a:t> (ong. 15%)</a:t>
            </a:r>
          </a:p>
        </p:txBody>
      </p:sp>
      <p:cxnSp>
        <p:nvCxnSpPr>
          <p:cNvPr id="24" name="Straight Connector 10">
            <a:extLst>
              <a:ext uri="{FF2B5EF4-FFF2-40B4-BE49-F238E27FC236}">
                <a16:creationId xmlns:a16="http://schemas.microsoft.com/office/drawing/2014/main" id="{8329CA9E-1D50-2CF2-0A97-7935D598C791}"/>
              </a:ext>
            </a:extLst>
          </p:cNvPr>
          <p:cNvCxnSpPr>
            <a:cxnSpLocks/>
          </p:cNvCxnSpPr>
          <p:nvPr/>
        </p:nvCxnSpPr>
        <p:spPr>
          <a:xfrm>
            <a:off x="988290" y="1432339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1">
            <a:extLst>
              <a:ext uri="{FF2B5EF4-FFF2-40B4-BE49-F238E27FC236}">
                <a16:creationId xmlns:a16="http://schemas.microsoft.com/office/drawing/2014/main" id="{03538475-B948-35F0-1013-3761103667FE}"/>
              </a:ext>
            </a:extLst>
          </p:cNvPr>
          <p:cNvSpPr txBox="1"/>
          <p:nvPr/>
        </p:nvSpPr>
        <p:spPr>
          <a:xfrm>
            <a:off x="1074943" y="5692296"/>
            <a:ext cx="5614072" cy="1165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dirty="0" err="1">
                <a:latin typeface="Arial"/>
                <a:ea typeface="MS PGothic" charset="0"/>
              </a:rPr>
              <a:t>Bij</a:t>
            </a:r>
            <a:r>
              <a:rPr lang="en-US" dirty="0">
                <a:latin typeface="Arial"/>
                <a:ea typeface="MS PGothic" charset="0"/>
              </a:rPr>
              <a:t> het </a:t>
            </a:r>
            <a:r>
              <a:rPr lang="en-US" dirty="0" err="1">
                <a:latin typeface="Arial"/>
                <a:ea typeface="MS PGothic" charset="0"/>
              </a:rPr>
              <a:t>maken</a:t>
            </a:r>
            <a:r>
              <a:rPr lang="en-US" dirty="0">
                <a:latin typeface="Arial"/>
                <a:ea typeface="MS PGothic" charset="0"/>
              </a:rPr>
              <a:t>/</a:t>
            </a:r>
            <a:r>
              <a:rPr lang="en-US" dirty="0" err="1">
                <a:latin typeface="Arial"/>
                <a:ea typeface="MS PGothic" charset="0"/>
              </a:rPr>
              <a:t>trainen</a:t>
            </a:r>
            <a:r>
              <a:rPr lang="en-US" dirty="0">
                <a:latin typeface="Arial"/>
                <a:ea typeface="MS PGothic" charset="0"/>
              </a:rPr>
              <a:t> van </a:t>
            </a:r>
            <a:r>
              <a:rPr lang="en-US" dirty="0" err="1">
                <a:latin typeface="Arial"/>
                <a:ea typeface="MS PGothic" charset="0"/>
              </a:rPr>
              <a:t>een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leeftijdsvoorspeller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geven</a:t>
            </a:r>
            <a:r>
              <a:rPr lang="en-US" dirty="0">
                <a:latin typeface="Arial"/>
                <a:ea typeface="MS PGothic" charset="0"/>
              </a:rPr>
              <a:t> we </a:t>
            </a:r>
            <a:r>
              <a:rPr lang="en-US" dirty="0" err="1">
                <a:latin typeface="Arial"/>
                <a:ea typeface="MS PGothic" charset="0"/>
              </a:rPr>
              <a:t>ons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regressiemodel</a:t>
            </a:r>
            <a:r>
              <a:rPr lang="en-US" dirty="0">
                <a:latin typeface="Arial"/>
                <a:ea typeface="MS PGothic" charset="0"/>
              </a:rPr>
              <a:t> de trainset mee, </a:t>
            </a:r>
            <a:r>
              <a:rPr lang="en-US" dirty="0" err="1">
                <a:latin typeface="Arial"/>
                <a:ea typeface="MS PGothic" charset="0"/>
              </a:rPr>
              <a:t>zodat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patronen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gevonden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kunnen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worden</a:t>
            </a:r>
            <a:r>
              <a:rPr lang="en-US" dirty="0">
                <a:latin typeface="Arial"/>
                <a:ea typeface="MS PGothic" charset="0"/>
              </a:rPr>
              <a:t>.</a:t>
            </a:r>
          </a:p>
        </p:txBody>
      </p:sp>
      <p:sp>
        <p:nvSpPr>
          <p:cNvPr id="37" name="TextBox 1">
            <a:extLst>
              <a:ext uri="{FF2B5EF4-FFF2-40B4-BE49-F238E27FC236}">
                <a16:creationId xmlns:a16="http://schemas.microsoft.com/office/drawing/2014/main" id="{E1920202-5C03-4241-6763-D8DAA9CFD28F}"/>
              </a:ext>
            </a:extLst>
          </p:cNvPr>
          <p:cNvSpPr txBox="1"/>
          <p:nvPr/>
        </p:nvSpPr>
        <p:spPr>
          <a:xfrm>
            <a:off x="6724062" y="1759466"/>
            <a:ext cx="5362794" cy="423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</a:pPr>
            <a:r>
              <a:rPr lang="en-US" dirty="0">
                <a:latin typeface="Arial"/>
                <a:ea typeface="MS PGothic" charset="0"/>
              </a:rPr>
              <a:t>Hoe </a:t>
            </a:r>
            <a:r>
              <a:rPr lang="en-US" dirty="0" err="1">
                <a:latin typeface="Arial"/>
                <a:ea typeface="MS PGothic" charset="0"/>
              </a:rPr>
              <a:t>dicht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liggen</a:t>
            </a:r>
            <a:r>
              <a:rPr lang="en-US" dirty="0">
                <a:latin typeface="Arial"/>
                <a:ea typeface="MS PGothic" charset="0"/>
              </a:rPr>
              <a:t> de </a:t>
            </a:r>
            <a:r>
              <a:rPr lang="en-US" dirty="0" err="1">
                <a:latin typeface="Arial"/>
                <a:ea typeface="MS PGothic" charset="0"/>
              </a:rPr>
              <a:t>voorspellingen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bij</a:t>
            </a:r>
            <a:r>
              <a:rPr lang="en-US" dirty="0">
                <a:latin typeface="Arial"/>
                <a:ea typeface="MS PGothic" charset="0"/>
              </a:rPr>
              <a:t> de </a:t>
            </a:r>
            <a:r>
              <a:rPr lang="en-US" dirty="0" err="1">
                <a:latin typeface="Arial"/>
                <a:ea typeface="MS PGothic" charset="0"/>
              </a:rPr>
              <a:t>realiteit</a:t>
            </a:r>
            <a:r>
              <a:rPr lang="en-US" dirty="0">
                <a:latin typeface="Arial"/>
                <a:ea typeface="MS PGothic" charset="0"/>
              </a:rPr>
              <a:t>?</a:t>
            </a:r>
          </a:p>
        </p:txBody>
      </p:sp>
      <p:sp>
        <p:nvSpPr>
          <p:cNvPr id="38" name="Rechthoek 37">
            <a:extLst>
              <a:ext uri="{FF2B5EF4-FFF2-40B4-BE49-F238E27FC236}">
                <a16:creationId xmlns:a16="http://schemas.microsoft.com/office/drawing/2014/main" id="{0B78D163-8259-0437-1E7D-435FF81991E5}"/>
              </a:ext>
            </a:extLst>
          </p:cNvPr>
          <p:cNvSpPr/>
          <p:nvPr/>
        </p:nvSpPr>
        <p:spPr>
          <a:xfrm>
            <a:off x="6817080" y="4999383"/>
            <a:ext cx="5139692" cy="39975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9" name="Rechthoek 38">
            <a:extLst>
              <a:ext uri="{FF2B5EF4-FFF2-40B4-BE49-F238E27FC236}">
                <a16:creationId xmlns:a16="http://schemas.microsoft.com/office/drawing/2014/main" id="{DB9AC511-A906-85CA-113D-5F3C4F7F8481}"/>
              </a:ext>
            </a:extLst>
          </p:cNvPr>
          <p:cNvSpPr/>
          <p:nvPr/>
        </p:nvSpPr>
        <p:spPr>
          <a:xfrm>
            <a:off x="6905707" y="4077389"/>
            <a:ext cx="5139692" cy="39975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0" name="Rechthoek 39">
            <a:extLst>
              <a:ext uri="{FF2B5EF4-FFF2-40B4-BE49-F238E27FC236}">
                <a16:creationId xmlns:a16="http://schemas.microsoft.com/office/drawing/2014/main" id="{9C90C76D-9B6A-987D-1A8E-A2A7F67C8EF8}"/>
              </a:ext>
            </a:extLst>
          </p:cNvPr>
          <p:cNvSpPr/>
          <p:nvPr/>
        </p:nvSpPr>
        <p:spPr>
          <a:xfrm>
            <a:off x="6905707" y="2742903"/>
            <a:ext cx="5139692" cy="39975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1" name="Rechthoek 40">
            <a:extLst>
              <a:ext uri="{FF2B5EF4-FFF2-40B4-BE49-F238E27FC236}">
                <a16:creationId xmlns:a16="http://schemas.microsoft.com/office/drawing/2014/main" id="{86712BB1-F472-D9DA-1245-E546EA93AE84}"/>
              </a:ext>
            </a:extLst>
          </p:cNvPr>
          <p:cNvSpPr/>
          <p:nvPr/>
        </p:nvSpPr>
        <p:spPr>
          <a:xfrm>
            <a:off x="6905707" y="3596956"/>
            <a:ext cx="5139692" cy="39975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45" name="Afbeelding 44">
            <a:extLst>
              <a:ext uri="{FF2B5EF4-FFF2-40B4-BE49-F238E27FC236}">
                <a16:creationId xmlns:a16="http://schemas.microsoft.com/office/drawing/2014/main" id="{E7F6AE6E-0E6A-2D0F-770C-53FA43ACB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137" y="1884803"/>
            <a:ext cx="3891126" cy="378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627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7" grpId="0"/>
      <p:bldP spid="38" grpId="0" animBg="1"/>
      <p:bldP spid="39" grpId="0" animBg="1"/>
      <p:bldP spid="40" grpId="0" animBg="1"/>
      <p:bldP spid="4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Afbeelding 18">
            <a:extLst>
              <a:ext uri="{FF2B5EF4-FFF2-40B4-BE49-F238E27FC236}">
                <a16:creationId xmlns:a16="http://schemas.microsoft.com/office/drawing/2014/main" id="{8BE96CCB-1651-7D72-073B-297C41565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2840" y="919528"/>
            <a:ext cx="4468427" cy="4423803"/>
          </a:xfrm>
          <a:prstGeom prst="rect">
            <a:avLst/>
          </a:prstGeom>
        </p:spPr>
      </p:pic>
      <p:sp>
        <p:nvSpPr>
          <p:cNvPr id="6" name="Tekstvak 7">
            <a:extLst>
              <a:ext uri="{FF2B5EF4-FFF2-40B4-BE49-F238E27FC236}">
                <a16:creationId xmlns:a16="http://schemas.microsoft.com/office/drawing/2014/main" id="{BA269D03-4CD4-A824-783F-AFAA660F0E45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E0E66AFB-DF6F-DB65-946D-3F73E052EE22}"/>
              </a:ext>
            </a:extLst>
          </p:cNvPr>
          <p:cNvSpPr txBox="1"/>
          <p:nvPr/>
        </p:nvSpPr>
        <p:spPr>
          <a:xfrm>
            <a:off x="988290" y="-10754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lang="nl-NL" sz="3000" b="1" dirty="0">
                <a:solidFill>
                  <a:srgbClr val="829C30"/>
                </a:solidFill>
                <a:latin typeface="Arial"/>
                <a:ea typeface="MS PGothic" charset="0"/>
              </a:rPr>
              <a:t>H</a:t>
            </a:r>
            <a:r>
              <a:rPr kumimoji="0" lang="nl-NL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et </a:t>
            </a:r>
            <a:r>
              <a:rPr lang="nl-NL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splitsproc</a:t>
            </a:r>
            <a:r>
              <a:rPr kumimoji="0" lang="nl-NL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es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262CF38-BB42-BEB5-C710-06267CB16BFA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kstvak 3">
            <a:extLst>
              <a:ext uri="{FF2B5EF4-FFF2-40B4-BE49-F238E27FC236}">
                <a16:creationId xmlns:a16="http://schemas.microsoft.com/office/drawing/2014/main" id="{AA2BA045-8B04-6A83-F966-2BA7FE05CB93}"/>
              </a:ext>
            </a:extLst>
          </p:cNvPr>
          <p:cNvSpPr txBox="1"/>
          <p:nvPr/>
        </p:nvSpPr>
        <p:spPr>
          <a:xfrm>
            <a:off x="8539465" y="3268366"/>
            <a:ext cx="36525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willen de waarde van “Age” bepalen: dit is onze afhankelijke variabele. Elke overige kolom 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is een onafhankelijke variabele.</a:t>
            </a:r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C8FA6EA3-1F04-DDCF-1C74-3007A14CCE91}"/>
              </a:ext>
            </a:extLst>
          </p:cNvPr>
          <p:cNvCxnSpPr>
            <a:cxnSpLocks/>
          </p:cNvCxnSpPr>
          <p:nvPr/>
        </p:nvCxnSpPr>
        <p:spPr>
          <a:xfrm>
            <a:off x="7842223" y="919528"/>
            <a:ext cx="0" cy="442380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4E4D311A-7A2B-6447-AC29-024AD2A183D3}"/>
              </a:ext>
            </a:extLst>
          </p:cNvPr>
          <p:cNvCxnSpPr>
            <a:cxnSpLocks/>
          </p:cNvCxnSpPr>
          <p:nvPr/>
        </p:nvCxnSpPr>
        <p:spPr>
          <a:xfrm>
            <a:off x="3972840" y="3418420"/>
            <a:ext cx="446842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kstvak 13">
            <a:extLst>
              <a:ext uri="{FF2B5EF4-FFF2-40B4-BE49-F238E27FC236}">
                <a16:creationId xmlns:a16="http://schemas.microsoft.com/office/drawing/2014/main" id="{F029F73E-6BD2-F9B2-29E0-1DCA55F7B5C3}"/>
              </a:ext>
            </a:extLst>
          </p:cNvPr>
          <p:cNvSpPr txBox="1"/>
          <p:nvPr/>
        </p:nvSpPr>
        <p:spPr>
          <a:xfrm>
            <a:off x="988290" y="2391409"/>
            <a:ext cx="274882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willen onze dataset opsplitsen in een train- en een </a:t>
            </a:r>
            <a:r>
              <a:rPr kumimoji="0" lang="nl-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testset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De </a:t>
            </a: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trainset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 (ongeveer 85%): wordt gebruikt om het model te trainen: datapatronen te laten herkennen.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 </a:t>
            </a:r>
            <a:r>
              <a:rPr kumimoji="0" lang="nl-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testset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(ongeveer 15%): wordt gebruikt als “zogenaamd” nieuwe data om modelprestaties te meten.</a:t>
            </a:r>
          </a:p>
        </p:txBody>
      </p:sp>
    </p:spTree>
    <p:extLst>
      <p:ext uri="{BB962C8B-B14F-4D97-AF65-F5344CB8AC3E}">
        <p14:creationId xmlns:p14="http://schemas.microsoft.com/office/powerpoint/2010/main" val="1171355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BA269D03-4CD4-A824-783F-AFAA660F0E45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262CF38-BB42-BEB5-C710-06267CB16BFA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Afbeelding 2">
            <a:extLst>
              <a:ext uri="{FF2B5EF4-FFF2-40B4-BE49-F238E27FC236}">
                <a16:creationId xmlns:a16="http://schemas.microsoft.com/office/drawing/2014/main" id="{D7A28C99-11C1-8B66-36A6-3B667C1C6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02" y="992523"/>
            <a:ext cx="10988932" cy="5722903"/>
          </a:xfrm>
          <a:prstGeom prst="rect">
            <a:avLst/>
          </a:prstGeom>
        </p:spPr>
      </p:pic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C8FA6EA3-1F04-DDCF-1C74-3007A14CCE91}"/>
              </a:ext>
            </a:extLst>
          </p:cNvPr>
          <p:cNvCxnSpPr>
            <a:cxnSpLocks/>
          </p:cNvCxnSpPr>
          <p:nvPr/>
        </p:nvCxnSpPr>
        <p:spPr>
          <a:xfrm>
            <a:off x="11130116" y="992524"/>
            <a:ext cx="0" cy="586547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4E4D311A-7A2B-6447-AC29-024AD2A183D3}"/>
              </a:ext>
            </a:extLst>
          </p:cNvPr>
          <p:cNvCxnSpPr>
            <a:cxnSpLocks/>
          </p:cNvCxnSpPr>
          <p:nvPr/>
        </p:nvCxnSpPr>
        <p:spPr>
          <a:xfrm>
            <a:off x="1051902" y="5555226"/>
            <a:ext cx="1114009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hthoek 4">
            <a:extLst>
              <a:ext uri="{FF2B5EF4-FFF2-40B4-BE49-F238E27FC236}">
                <a16:creationId xmlns:a16="http://schemas.microsoft.com/office/drawing/2014/main" id="{07D9FE47-DA2A-C035-A93F-7E0D08690B8A}"/>
              </a:ext>
            </a:extLst>
          </p:cNvPr>
          <p:cNvSpPr/>
          <p:nvPr/>
        </p:nvSpPr>
        <p:spPr>
          <a:xfrm>
            <a:off x="988291" y="992524"/>
            <a:ext cx="10097654" cy="450862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/>
              <a:t>X_train</a:t>
            </a:r>
            <a:endParaRPr lang="nl-NL" dirty="0"/>
          </a:p>
          <a:p>
            <a:pPr algn="ctr"/>
            <a:endParaRPr lang="nl-NL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nl-NL" dirty="0"/>
              <a:t>X staat voor alle kolommen die onafhankelijke variabelen bevatten.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nl-NL" dirty="0"/>
              <a:t>y staat voor de kolom waarin de afhankelijke (te voorspellen) variabele zit.</a:t>
            </a: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0A62ABA1-04ED-D2FB-A9A3-2EA1CDF90EA1}"/>
              </a:ext>
            </a:extLst>
          </p:cNvPr>
          <p:cNvSpPr/>
          <p:nvPr/>
        </p:nvSpPr>
        <p:spPr>
          <a:xfrm>
            <a:off x="988290" y="5589634"/>
            <a:ext cx="10097655" cy="11970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err="1"/>
              <a:t>X_test</a:t>
            </a:r>
            <a:endParaRPr lang="nl-NL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F135143C-9F88-42A3-AB23-E58BBA9BEA06}"/>
              </a:ext>
            </a:extLst>
          </p:cNvPr>
          <p:cNvSpPr/>
          <p:nvPr/>
        </p:nvSpPr>
        <p:spPr>
          <a:xfrm>
            <a:off x="11174288" y="992522"/>
            <a:ext cx="1017712" cy="450862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err="1"/>
              <a:t>y_train</a:t>
            </a:r>
            <a:endParaRPr lang="nl-NL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8878C457-4EE0-D838-A5FF-F3FD20656D97}"/>
              </a:ext>
            </a:extLst>
          </p:cNvPr>
          <p:cNvSpPr/>
          <p:nvPr/>
        </p:nvSpPr>
        <p:spPr>
          <a:xfrm>
            <a:off x="11149556" y="5589634"/>
            <a:ext cx="1042444" cy="117987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err="1"/>
              <a:t>y_test</a:t>
            </a:r>
            <a:endParaRPr lang="nl-N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435E4C-3331-8752-2879-00F013692A83}"/>
              </a:ext>
            </a:extLst>
          </p:cNvPr>
          <p:cNvSpPr txBox="1"/>
          <p:nvPr/>
        </p:nvSpPr>
        <p:spPr>
          <a:xfrm>
            <a:off x="988290" y="-10754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nl-NL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Het </a:t>
            </a:r>
            <a:r>
              <a:rPr lang="nl-NL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splitsproc</a:t>
            </a:r>
            <a:r>
              <a:rPr kumimoji="0" lang="nl-NL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es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710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BA269D03-4CD4-A824-783F-AFAA660F0E45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E0E66AFB-DF6F-DB65-946D-3F73E052EE22}"/>
              </a:ext>
            </a:extLst>
          </p:cNvPr>
          <p:cNvSpPr txBox="1"/>
          <p:nvPr/>
        </p:nvSpPr>
        <p:spPr>
          <a:xfrm>
            <a:off x="2777658" y="-10754"/>
            <a:ext cx="814444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De </a:t>
            </a: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werking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van 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r</a:t>
            </a: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egressie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262CF38-BB42-BEB5-C710-06267CB16BFA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Afbeelding 4">
            <a:extLst>
              <a:ext uri="{FF2B5EF4-FFF2-40B4-BE49-F238E27FC236}">
                <a16:creationId xmlns:a16="http://schemas.microsoft.com/office/drawing/2014/main" id="{02C1B0EA-D9FE-A4BA-DBEB-DEA08BDD0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156" y="914408"/>
            <a:ext cx="3669053" cy="5664810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333530B6-C12E-1487-3B9A-1F154F49D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236" y="992524"/>
            <a:ext cx="3751598" cy="5557794"/>
          </a:xfrm>
          <a:prstGeom prst="rect">
            <a:avLst/>
          </a:prstGeom>
        </p:spPr>
      </p:pic>
      <p:sp>
        <p:nvSpPr>
          <p:cNvPr id="11" name="Pijl: rechts 10">
            <a:extLst>
              <a:ext uri="{FF2B5EF4-FFF2-40B4-BE49-F238E27FC236}">
                <a16:creationId xmlns:a16="http://schemas.microsoft.com/office/drawing/2014/main" id="{58518722-EE24-6898-3BA7-4C1088225145}"/>
              </a:ext>
            </a:extLst>
          </p:cNvPr>
          <p:cNvSpPr/>
          <p:nvPr/>
        </p:nvSpPr>
        <p:spPr>
          <a:xfrm>
            <a:off x="4994005" y="1251716"/>
            <a:ext cx="3370797" cy="12423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Welke lineaire voorspellingslijn past hier het best doorheen?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61D3D35-ACD4-54BC-A2BF-D7960DD3F720}"/>
              </a:ext>
            </a:extLst>
          </p:cNvPr>
          <p:cNvSpPr txBox="1"/>
          <p:nvPr/>
        </p:nvSpPr>
        <p:spPr>
          <a:xfrm>
            <a:off x="4393096" y="6209885"/>
            <a:ext cx="3081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X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3E5D4AC5-348B-C4E8-DA33-BF6582CBB78E}"/>
              </a:ext>
            </a:extLst>
          </p:cNvPr>
          <p:cNvSpPr txBox="1"/>
          <p:nvPr/>
        </p:nvSpPr>
        <p:spPr>
          <a:xfrm>
            <a:off x="1146475" y="992524"/>
            <a:ext cx="3350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 Light" panose="020B0609020000020004" pitchFamily="49" charset="0"/>
                <a:cs typeface="Cascadia Code Light" panose="020B0609020000020004" pitchFamily="49" charset="0"/>
              </a:rPr>
              <a:t>y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AA41653E-0B40-72F0-D77A-5DBC622D2D12}"/>
              </a:ext>
            </a:extLst>
          </p:cNvPr>
          <p:cNvSpPr txBox="1"/>
          <p:nvPr/>
        </p:nvSpPr>
        <p:spPr>
          <a:xfrm>
            <a:off x="11732721" y="6180986"/>
            <a:ext cx="3081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X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AB6503E9-2D9C-B916-B6DF-03251CB71F5C}"/>
              </a:ext>
            </a:extLst>
          </p:cNvPr>
          <p:cNvSpPr txBox="1"/>
          <p:nvPr/>
        </p:nvSpPr>
        <p:spPr>
          <a:xfrm>
            <a:off x="8440368" y="992524"/>
            <a:ext cx="3350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cadia Code Light" panose="020B0609020000020004" pitchFamily="49" charset="0"/>
                <a:cs typeface="Cascadia Code Light" panose="020B0609020000020004" pitchFamily="49" charset="0"/>
              </a:rPr>
              <a:t>y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5E613C4A-15B3-BC3C-EA20-38BD813D8EAD}"/>
              </a:ext>
            </a:extLst>
          </p:cNvPr>
          <p:cNvSpPr txBox="1"/>
          <p:nvPr/>
        </p:nvSpPr>
        <p:spPr>
          <a:xfrm>
            <a:off x="4813010" y="2412520"/>
            <a:ext cx="337079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 formule van de lijn is: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y = a * X + 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a heet ook wel de ‘</a:t>
            </a: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slope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’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b 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heet ook wel de ‘</a:t>
            </a:r>
            <a:r>
              <a:rPr kumimoji="0" lang="nl-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intercept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’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4917926B-75BC-5B10-BAAB-82CAFF993168}"/>
              </a:ext>
            </a:extLst>
          </p:cNvPr>
          <p:cNvSpPr txBox="1"/>
          <p:nvPr/>
        </p:nvSpPr>
        <p:spPr>
          <a:xfrm>
            <a:off x="4701210" y="3995678"/>
            <a:ext cx="365308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meerdere onafhankelijke variabelen heb niet slechts één X, maar X1, X2, X3 enzovoort.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De formule van de lijn is dan dus: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y = a1 * X1 + a2 * X2 + a3 * X3 + 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Elke onafhankelijke variabele heeft dan dus zijn eigen wegingsfactor a.</a:t>
            </a:r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FF147659-D92E-218D-9BF8-2F4B5CD3ECDE}"/>
              </a:ext>
            </a:extLst>
          </p:cNvPr>
          <p:cNvSpPr txBox="1"/>
          <p:nvPr/>
        </p:nvSpPr>
        <p:spPr>
          <a:xfrm>
            <a:off x="1810874" y="4574166"/>
            <a:ext cx="2192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Daadwerkelijke data</a:t>
            </a:r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36C810B9-93AC-F5B9-5C29-1C4E97F995A1}"/>
              </a:ext>
            </a:extLst>
          </p:cNvPr>
          <p:cNvSpPr txBox="1"/>
          <p:nvPr/>
        </p:nvSpPr>
        <p:spPr>
          <a:xfrm>
            <a:off x="9848189" y="4488027"/>
            <a:ext cx="21926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Daadwerkelijke data + voorspellingslijn</a:t>
            </a:r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F5EB5494-78C3-FC3F-EE39-F087DDB06632}"/>
              </a:ext>
            </a:extLst>
          </p:cNvPr>
          <p:cNvSpPr txBox="1"/>
          <p:nvPr/>
        </p:nvSpPr>
        <p:spPr>
          <a:xfrm>
            <a:off x="8607902" y="1950855"/>
            <a:ext cx="20294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Errorgrootte, wordt zoveel mogelijk geminimaliseerd</a:t>
            </a:r>
          </a:p>
        </p:txBody>
      </p:sp>
    </p:spTree>
    <p:extLst>
      <p:ext uri="{BB962C8B-B14F-4D97-AF65-F5344CB8AC3E}">
        <p14:creationId xmlns:p14="http://schemas.microsoft.com/office/powerpoint/2010/main" val="573910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/>
      <p:bldP spid="15" grpId="0"/>
      <p:bldP spid="17" grpId="0"/>
      <p:bldP spid="18" grpId="0"/>
      <p:bldP spid="20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2531828" y="-990"/>
            <a:ext cx="9139669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Regressiemodellen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evalueren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cxnSp>
        <p:nvCxnSpPr>
          <p:cNvPr id="10" name="Straight Connector 10">
            <a:extLst>
              <a:ext uri="{FF2B5EF4-FFF2-40B4-BE49-F238E27FC236}">
                <a16:creationId xmlns:a16="http://schemas.microsoft.com/office/drawing/2014/main" id="{5622B3C4-14D3-9E44-A253-02726EB05A8E}"/>
              </a:ext>
            </a:extLst>
          </p:cNvPr>
          <p:cNvCxnSpPr>
            <a:cxnSpLocks/>
          </p:cNvCxnSpPr>
          <p:nvPr/>
        </p:nvCxnSpPr>
        <p:spPr>
          <a:xfrm>
            <a:off x="988290" y="642841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Afbeelding 2">
            <a:extLst>
              <a:ext uri="{FF2B5EF4-FFF2-40B4-BE49-F238E27FC236}">
                <a16:creationId xmlns:a16="http://schemas.microsoft.com/office/drawing/2014/main" id="{418A4802-494A-49AE-7871-C122F9422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442" y="769148"/>
            <a:ext cx="3538330" cy="3636899"/>
          </a:xfrm>
          <a:prstGeom prst="rect">
            <a:avLst/>
          </a:prstGeom>
        </p:spPr>
      </p:pic>
      <p:cxnSp>
        <p:nvCxnSpPr>
          <p:cNvPr id="5" name="Straight Connector 10">
            <a:extLst>
              <a:ext uri="{FF2B5EF4-FFF2-40B4-BE49-F238E27FC236}">
                <a16:creationId xmlns:a16="http://schemas.microsoft.com/office/drawing/2014/main" id="{FFA30D4A-C616-BC42-6C3A-A794AB4616E7}"/>
              </a:ext>
            </a:extLst>
          </p:cNvPr>
          <p:cNvCxnSpPr>
            <a:cxnSpLocks/>
          </p:cNvCxnSpPr>
          <p:nvPr/>
        </p:nvCxnSpPr>
        <p:spPr>
          <a:xfrm>
            <a:off x="988290" y="4790772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kstvak 5">
            <a:extLst>
              <a:ext uri="{FF2B5EF4-FFF2-40B4-BE49-F238E27FC236}">
                <a16:creationId xmlns:a16="http://schemas.microsoft.com/office/drawing/2014/main" id="{9E7F3E0A-406C-2D5B-DF8A-4F928C729A4F}"/>
              </a:ext>
            </a:extLst>
          </p:cNvPr>
          <p:cNvSpPr txBox="1"/>
          <p:nvPr/>
        </p:nvSpPr>
        <p:spPr>
          <a:xfrm>
            <a:off x="9849141" y="1898876"/>
            <a:ext cx="23428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“Wat is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nou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algemene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over de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accuraatheid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van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mijn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model?”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0AC65783-A37C-020C-A304-B557EF040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405" y="1182888"/>
            <a:ext cx="3880468" cy="3223159"/>
          </a:xfrm>
          <a:prstGeom prst="rect">
            <a:avLst/>
          </a:prstGeom>
        </p:spPr>
      </p:pic>
      <p:sp>
        <p:nvSpPr>
          <p:cNvPr id="9" name="Rechthoek 8">
            <a:extLst>
              <a:ext uri="{FF2B5EF4-FFF2-40B4-BE49-F238E27FC236}">
                <a16:creationId xmlns:a16="http://schemas.microsoft.com/office/drawing/2014/main" id="{C8405787-0284-D5C9-40A9-A2AFF3206C2D}"/>
              </a:ext>
            </a:extLst>
          </p:cNvPr>
          <p:cNvSpPr/>
          <p:nvPr/>
        </p:nvSpPr>
        <p:spPr>
          <a:xfrm>
            <a:off x="1077572" y="3101530"/>
            <a:ext cx="3719036" cy="28022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D55073E3-39A2-73F3-6966-1641870464CF}"/>
              </a:ext>
            </a:extLst>
          </p:cNvPr>
          <p:cNvSpPr/>
          <p:nvPr/>
        </p:nvSpPr>
        <p:spPr>
          <a:xfrm>
            <a:off x="1131121" y="2436578"/>
            <a:ext cx="3719036" cy="28022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8AFA235B-F869-E324-C833-8B40BB5F6D66}"/>
              </a:ext>
            </a:extLst>
          </p:cNvPr>
          <p:cNvSpPr/>
          <p:nvPr/>
        </p:nvSpPr>
        <p:spPr>
          <a:xfrm>
            <a:off x="1161953" y="1484814"/>
            <a:ext cx="3719036" cy="280227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0B096C18-F71B-3AEE-946C-A4C06CEB4932}"/>
              </a:ext>
            </a:extLst>
          </p:cNvPr>
          <p:cNvSpPr/>
          <p:nvPr/>
        </p:nvSpPr>
        <p:spPr>
          <a:xfrm>
            <a:off x="1131121" y="2117428"/>
            <a:ext cx="3719036" cy="280227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959E93B0-533A-14AF-5F92-5B68057C5416}"/>
              </a:ext>
            </a:extLst>
          </p:cNvPr>
          <p:cNvSpPr txBox="1"/>
          <p:nvPr/>
        </p:nvSpPr>
        <p:spPr>
          <a:xfrm>
            <a:off x="2531828" y="752951"/>
            <a:ext cx="1115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Testset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75966AE4-5DAE-A7CD-BEED-A834663483CC}"/>
              </a:ext>
            </a:extLst>
          </p:cNvPr>
          <p:cNvSpPr txBox="1"/>
          <p:nvPr/>
        </p:nvSpPr>
        <p:spPr>
          <a:xfrm>
            <a:off x="6590145" y="746847"/>
            <a:ext cx="22022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Regressie-uitkomst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Rechte verbindingslijn met pijl 19">
            <a:extLst>
              <a:ext uri="{FF2B5EF4-FFF2-40B4-BE49-F238E27FC236}">
                <a16:creationId xmlns:a16="http://schemas.microsoft.com/office/drawing/2014/main" id="{F6947142-F2EC-4C78-CC21-DAF7A2739F4D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4930873" y="2716805"/>
            <a:ext cx="80956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Rechte verbindingslijn met pijl 21">
            <a:extLst>
              <a:ext uri="{FF2B5EF4-FFF2-40B4-BE49-F238E27FC236}">
                <a16:creationId xmlns:a16="http://schemas.microsoft.com/office/drawing/2014/main" id="{1548BDC1-43FA-D031-1B14-173BA517173D}"/>
              </a:ext>
            </a:extLst>
          </p:cNvPr>
          <p:cNvCxnSpPr>
            <a:cxnSpLocks/>
          </p:cNvCxnSpPr>
          <p:nvPr/>
        </p:nvCxnSpPr>
        <p:spPr>
          <a:xfrm>
            <a:off x="9157654" y="2576691"/>
            <a:ext cx="69148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10">
            <a:extLst>
              <a:ext uri="{FF2B5EF4-FFF2-40B4-BE49-F238E27FC236}">
                <a16:creationId xmlns:a16="http://schemas.microsoft.com/office/drawing/2014/main" id="{BD585619-C848-FCB3-6F5F-6781B1EE0E80}"/>
              </a:ext>
            </a:extLst>
          </p:cNvPr>
          <p:cNvCxnSpPr>
            <a:cxnSpLocks/>
          </p:cNvCxnSpPr>
          <p:nvPr/>
        </p:nvCxnSpPr>
        <p:spPr>
          <a:xfrm flipV="1">
            <a:off x="4701208" y="4790772"/>
            <a:ext cx="0" cy="2067228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10">
            <a:extLst>
              <a:ext uri="{FF2B5EF4-FFF2-40B4-BE49-F238E27FC236}">
                <a16:creationId xmlns:a16="http://schemas.microsoft.com/office/drawing/2014/main" id="{9584E618-FFB3-75C7-136B-D3AFDDF8DFF6}"/>
              </a:ext>
            </a:extLst>
          </p:cNvPr>
          <p:cNvCxnSpPr>
            <a:cxnSpLocks/>
          </p:cNvCxnSpPr>
          <p:nvPr/>
        </p:nvCxnSpPr>
        <p:spPr>
          <a:xfrm flipV="1">
            <a:off x="8329407" y="4790772"/>
            <a:ext cx="0" cy="2067228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1">
            <a:extLst>
              <a:ext uri="{FF2B5EF4-FFF2-40B4-BE49-F238E27FC236}">
                <a16:creationId xmlns:a16="http://schemas.microsoft.com/office/drawing/2014/main" id="{57580C5B-E520-C52A-4A3D-F3839CE36DE0}"/>
              </a:ext>
            </a:extLst>
          </p:cNvPr>
          <p:cNvSpPr txBox="1"/>
          <p:nvPr/>
        </p:nvSpPr>
        <p:spPr>
          <a:xfrm>
            <a:off x="988290" y="4839495"/>
            <a:ext cx="3649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Sum of Squared Errors (SSE)</a:t>
            </a:r>
            <a:endParaRPr lang="nl-NL" sz="2000" dirty="0"/>
          </a:p>
        </p:txBody>
      </p:sp>
      <p:sp>
        <p:nvSpPr>
          <p:cNvPr id="29" name="TextBox 1">
            <a:extLst>
              <a:ext uri="{FF2B5EF4-FFF2-40B4-BE49-F238E27FC236}">
                <a16:creationId xmlns:a16="http://schemas.microsoft.com/office/drawing/2014/main" id="{AF97D107-1B00-108C-095B-39EE8CA87D09}"/>
              </a:ext>
            </a:extLst>
          </p:cNvPr>
          <p:cNvSpPr txBox="1"/>
          <p:nvPr/>
        </p:nvSpPr>
        <p:spPr>
          <a:xfrm>
            <a:off x="4637314" y="4850557"/>
            <a:ext cx="3649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Mean Squared Error (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M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SE)</a:t>
            </a:r>
            <a:endParaRPr lang="nl-NL" sz="2000" dirty="0"/>
          </a:p>
        </p:txBody>
      </p:sp>
      <p:sp>
        <p:nvSpPr>
          <p:cNvPr id="30" name="TextBox 1">
            <a:extLst>
              <a:ext uri="{FF2B5EF4-FFF2-40B4-BE49-F238E27FC236}">
                <a16:creationId xmlns:a16="http://schemas.microsoft.com/office/drawing/2014/main" id="{89F8213D-2290-F9CB-5D9F-52C733A98DC5}"/>
              </a:ext>
            </a:extLst>
          </p:cNvPr>
          <p:cNvSpPr txBox="1"/>
          <p:nvPr/>
        </p:nvSpPr>
        <p:spPr>
          <a:xfrm>
            <a:off x="8436192" y="4850557"/>
            <a:ext cx="3649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Mean Absolute Error (MAE)</a:t>
            </a:r>
            <a:endParaRPr lang="nl-NL" sz="2000" dirty="0"/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59825316-BF1B-CCEC-64E5-D4E662174704}"/>
              </a:ext>
            </a:extLst>
          </p:cNvPr>
          <p:cNvSpPr txBox="1"/>
          <p:nvPr/>
        </p:nvSpPr>
        <p:spPr>
          <a:xfrm>
            <a:off x="6590145" y="1481944"/>
            <a:ext cx="1343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Errorgrootte</a:t>
            </a:r>
          </a:p>
        </p:txBody>
      </p:sp>
      <p:sp>
        <p:nvSpPr>
          <p:cNvPr id="32" name="Tekstvak 31">
            <a:extLst>
              <a:ext uri="{FF2B5EF4-FFF2-40B4-BE49-F238E27FC236}">
                <a16:creationId xmlns:a16="http://schemas.microsoft.com/office/drawing/2014/main" id="{349FF040-D554-DAC4-A43C-22D7ABA028F5}"/>
              </a:ext>
            </a:extLst>
          </p:cNvPr>
          <p:cNvSpPr txBox="1"/>
          <p:nvPr/>
        </p:nvSpPr>
        <p:spPr>
          <a:xfrm>
            <a:off x="1131120" y="5411171"/>
            <a:ext cx="33356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Kwadrateer elke errorgrootte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Tel alle kwadraten bij elkaar op.</a:t>
            </a:r>
          </a:p>
        </p:txBody>
      </p:sp>
      <p:sp>
        <p:nvSpPr>
          <p:cNvPr id="33" name="Tekstvak 32">
            <a:extLst>
              <a:ext uri="{FF2B5EF4-FFF2-40B4-BE49-F238E27FC236}">
                <a16:creationId xmlns:a16="http://schemas.microsoft.com/office/drawing/2014/main" id="{F2B34D23-583D-62BC-0995-DE776668409F}"/>
              </a:ext>
            </a:extLst>
          </p:cNvPr>
          <p:cNvSpPr txBox="1"/>
          <p:nvPr/>
        </p:nvSpPr>
        <p:spPr>
          <a:xfrm>
            <a:off x="4787517" y="5411171"/>
            <a:ext cx="33356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Kwadrateer elke errorgrootte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Bereken het gemiddelde van alle kwadraten</a:t>
            </a:r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D6A12F91-20B7-9834-9B30-9DF18F8EF859}"/>
              </a:ext>
            </a:extLst>
          </p:cNvPr>
          <p:cNvSpPr txBox="1"/>
          <p:nvPr/>
        </p:nvSpPr>
        <p:spPr>
          <a:xfrm>
            <a:off x="8372476" y="5411171"/>
            <a:ext cx="37127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Verander elke min-errorgrootte in een plus-errorgrootte (-1 -&gt; 1, -3 -&gt; 3, enzovoort).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Bereken het gemiddelde van alle errorgroottes.</a:t>
            </a:r>
          </a:p>
        </p:txBody>
      </p:sp>
    </p:spTree>
    <p:extLst>
      <p:ext uri="{BB962C8B-B14F-4D97-AF65-F5344CB8AC3E}">
        <p14:creationId xmlns:p14="http://schemas.microsoft.com/office/powerpoint/2010/main" val="2382823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2259112" y="0"/>
            <a:ext cx="9139669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Demo time</a:t>
            </a:r>
          </a:p>
        </p:txBody>
      </p:sp>
      <p:pic>
        <p:nvPicPr>
          <p:cNvPr id="1026" name="Picture 2" descr="Demo - Applied Post">
            <a:extLst>
              <a:ext uri="{FF2B5EF4-FFF2-40B4-BE49-F238E27FC236}">
                <a16:creationId xmlns:a16="http://schemas.microsoft.com/office/drawing/2014/main" id="{19C11DEA-9AEF-E535-1DCA-25F98AC40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2151" y="900504"/>
            <a:ext cx="9626630" cy="5483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102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7C737D-49A5-4740-8401-0C4DFF2B9D4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7CD2F944-88DB-C3A7-45F7-E30B87964246}"/>
              </a:ext>
            </a:extLst>
          </p:cNvPr>
          <p:cNvSpPr txBox="1"/>
          <p:nvPr/>
        </p:nvSpPr>
        <p:spPr>
          <a:xfrm>
            <a:off x="3255649" y="0"/>
            <a:ext cx="6493163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Na </a:t>
            </a: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vandaag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…</a:t>
            </a: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pic>
        <p:nvPicPr>
          <p:cNvPr id="1026" name="Picture 2" descr="Venn Diagram | DHH Resources for Teachers | UMN">
            <a:extLst>
              <a:ext uri="{FF2B5EF4-FFF2-40B4-BE49-F238E27FC236}">
                <a16:creationId xmlns:a16="http://schemas.microsoft.com/office/drawing/2014/main" id="{7ED165F3-95C7-4DFE-96C3-50E651F0E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863" y="1025768"/>
            <a:ext cx="11101137" cy="589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490D3E-EF89-C010-3F4B-F601B3E08A37}"/>
              </a:ext>
            </a:extLst>
          </p:cNvPr>
          <p:cNvSpPr txBox="1"/>
          <p:nvPr/>
        </p:nvSpPr>
        <p:spPr>
          <a:xfrm>
            <a:off x="3576418" y="683609"/>
            <a:ext cx="1294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Weet je…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0EF7E7-CD2F-7741-9C29-123FB8D93DDC}"/>
              </a:ext>
            </a:extLst>
          </p:cNvPr>
          <p:cNvSpPr txBox="1"/>
          <p:nvPr/>
        </p:nvSpPr>
        <p:spPr>
          <a:xfrm>
            <a:off x="8107256" y="703521"/>
            <a:ext cx="1131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Kan je…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0320AE-CE57-9D64-F411-B113070D2BCC}"/>
              </a:ext>
            </a:extLst>
          </p:cNvPr>
          <p:cNvSpPr txBox="1"/>
          <p:nvPr/>
        </p:nvSpPr>
        <p:spPr>
          <a:xfrm>
            <a:off x="5808945" y="2475078"/>
            <a:ext cx="1368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HC + practicum</a:t>
            </a:r>
          </a:p>
        </p:txBody>
      </p:sp>
      <p:pic>
        <p:nvPicPr>
          <p:cNvPr id="1030" name="Picture 6" descr="Smile Emoji Happy - Free vector graphic on Pixabay">
            <a:extLst>
              <a:ext uri="{FF2B5EF4-FFF2-40B4-BE49-F238E27FC236}">
                <a16:creationId xmlns:a16="http://schemas.microsoft.com/office/drawing/2014/main" id="{A359608D-0FAD-B299-A99E-0045AC944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40" y="3275345"/>
            <a:ext cx="1523028" cy="152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F0621E4-74F4-FAC7-0E0A-2A8DDEB96310}"/>
              </a:ext>
            </a:extLst>
          </p:cNvPr>
          <p:cNvSpPr txBox="1"/>
          <p:nvPr/>
        </p:nvSpPr>
        <p:spPr>
          <a:xfrm>
            <a:off x="7760341" y="4892109"/>
            <a:ext cx="3062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uitkomsten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regressiemodellen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interpreteren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evalueren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extBox 16">
            <a:extLst>
              <a:ext uri="{FF2B5EF4-FFF2-40B4-BE49-F238E27FC236}">
                <a16:creationId xmlns:a16="http://schemas.microsoft.com/office/drawing/2014/main" id="{AB055838-C7ED-88C2-08DF-B247E02AFBB8}"/>
              </a:ext>
            </a:extLst>
          </p:cNvPr>
          <p:cNvSpPr txBox="1"/>
          <p:nvPr/>
        </p:nvSpPr>
        <p:spPr>
          <a:xfrm>
            <a:off x="1473557" y="3275345"/>
            <a:ext cx="3335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Wat het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verschil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tussen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supervised &amp; unsupervised Machine Learning</a:t>
            </a:r>
          </a:p>
        </p:txBody>
      </p:sp>
      <p:sp>
        <p:nvSpPr>
          <p:cNvPr id="3" name="TextBox 16">
            <a:extLst>
              <a:ext uri="{FF2B5EF4-FFF2-40B4-BE49-F238E27FC236}">
                <a16:creationId xmlns:a16="http://schemas.microsoft.com/office/drawing/2014/main" id="{7CAAFDE4-0C43-6A31-5BEA-5A7B81EF0A7F}"/>
              </a:ext>
            </a:extLst>
          </p:cNvPr>
          <p:cNvSpPr txBox="1"/>
          <p:nvPr/>
        </p:nvSpPr>
        <p:spPr>
          <a:xfrm>
            <a:off x="2164763" y="5169108"/>
            <a:ext cx="33350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Welke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supervised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modellen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er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zijn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wanneer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welke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gebruikt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04829D23-8DDF-78CB-8E82-6543A045E278}"/>
              </a:ext>
            </a:extLst>
          </p:cNvPr>
          <p:cNvSpPr txBox="1"/>
          <p:nvPr/>
        </p:nvSpPr>
        <p:spPr>
          <a:xfrm>
            <a:off x="8017469" y="2967335"/>
            <a:ext cx="29046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regressiemodellen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train-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testbaar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D45E8F2A-7908-3223-8685-00434AE8F1EB}"/>
              </a:ext>
            </a:extLst>
          </p:cNvPr>
          <p:cNvSpPr txBox="1"/>
          <p:nvPr/>
        </p:nvSpPr>
        <p:spPr>
          <a:xfrm>
            <a:off x="2472537" y="1524512"/>
            <a:ext cx="3335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Wat het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verschil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tussen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Machine Lea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rning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“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traditionele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AI”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CAA48B3D-AF62-AAE5-5125-C485F4535EC3}"/>
              </a:ext>
            </a:extLst>
          </p:cNvPr>
          <p:cNvSpPr txBox="1"/>
          <p:nvPr/>
        </p:nvSpPr>
        <p:spPr>
          <a:xfrm>
            <a:off x="7332875" y="1614983"/>
            <a:ext cx="30624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Datasets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prepareren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voor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het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toepassen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van Machine-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Learningmodellen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018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7C737D-49A5-4740-8401-0C4DFF2B9D4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7CD2F944-88DB-C3A7-45F7-E30B87964246}"/>
              </a:ext>
            </a:extLst>
          </p:cNvPr>
          <p:cNvSpPr txBox="1"/>
          <p:nvPr/>
        </p:nvSpPr>
        <p:spPr>
          <a:xfrm>
            <a:off x="3255649" y="0"/>
            <a:ext cx="6493163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Het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werkcollege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…</a:t>
            </a: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2" name="TextBox 15">
            <a:extLst>
              <a:ext uri="{FF2B5EF4-FFF2-40B4-BE49-F238E27FC236}">
                <a16:creationId xmlns:a16="http://schemas.microsoft.com/office/drawing/2014/main" id="{D44248C8-D6B8-15FA-6958-7959321B39E8}"/>
              </a:ext>
            </a:extLst>
          </p:cNvPr>
          <p:cNvSpPr txBox="1"/>
          <p:nvPr/>
        </p:nvSpPr>
        <p:spPr>
          <a:xfrm>
            <a:off x="1007400" y="1853213"/>
            <a:ext cx="5506818" cy="3693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Great Outdoors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wil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graag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weten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hoeveel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zij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gaat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verkopen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afhankelijke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variabele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 in het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volgende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jaar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Bedenk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met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welke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onafhankelijke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variabelen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naar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verwachting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het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beste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voorspeld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worden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zet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met de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afhankelijke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variabele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één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DataFrame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waar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nodig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Dummy Encoding toe.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Snijd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DataFrame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horizontaal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verticaal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op de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juiste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manier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 het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regressiemodel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Evalueer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performance van je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getrainde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regressiemodel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20" name="Picture 2" descr="Document Good Ware Lineal icon">
            <a:extLst>
              <a:ext uri="{FF2B5EF4-FFF2-40B4-BE49-F238E27FC236}">
                <a16:creationId xmlns:a16="http://schemas.microsoft.com/office/drawing/2014/main" id="{48532937-193D-E874-5DB5-5E980B1D2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2964" y="3024356"/>
            <a:ext cx="1663115" cy="166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kstvak 22">
            <a:extLst>
              <a:ext uri="{FF2B5EF4-FFF2-40B4-BE49-F238E27FC236}">
                <a16:creationId xmlns:a16="http://schemas.microsoft.com/office/drawing/2014/main" id="{1130CADC-489D-7101-C92E-2491BF761052}"/>
              </a:ext>
            </a:extLst>
          </p:cNvPr>
          <p:cNvSpPr txBox="1"/>
          <p:nvPr/>
        </p:nvSpPr>
        <p:spPr>
          <a:xfrm>
            <a:off x="9801480" y="4638358"/>
            <a:ext cx="200608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>
                <a:solidFill>
                  <a:prstClr val="black"/>
                </a:solidFill>
                <a:latin typeface="Calibri" panose="020F0502020204030204"/>
              </a:rPr>
              <a:t>WC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9</a:t>
            </a: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-1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5" name="Rechte verbindingslijn met pijl 34">
            <a:extLst>
              <a:ext uri="{FF2B5EF4-FFF2-40B4-BE49-F238E27FC236}">
                <a16:creationId xmlns:a16="http://schemas.microsoft.com/office/drawing/2014/main" id="{95C4490C-3E65-CBAD-3DA1-3DD8B7A43299}"/>
              </a:ext>
            </a:extLst>
          </p:cNvPr>
          <p:cNvCxnSpPr>
            <a:cxnSpLocks/>
          </p:cNvCxnSpPr>
          <p:nvPr/>
        </p:nvCxnSpPr>
        <p:spPr>
          <a:xfrm flipV="1">
            <a:off x="8077198" y="3846582"/>
            <a:ext cx="2074508" cy="0"/>
          </a:xfrm>
          <a:prstGeom prst="straightConnector1">
            <a:avLst/>
          </a:prstGeom>
          <a:ln w="76200">
            <a:solidFill>
              <a:srgbClr val="829C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Slides Icons - Free SVG &amp; PNG Slides Images - Noun Project">
            <a:extLst>
              <a:ext uri="{FF2B5EF4-FFF2-40B4-BE49-F238E27FC236}">
                <a16:creationId xmlns:a16="http://schemas.microsoft.com/office/drawing/2014/main" id="{C1DE05AB-3A7C-FD1D-F7C2-7212A4248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2825" y="2824711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96B561C6-19BA-FB04-ED95-84E637AB6DF7}"/>
              </a:ext>
            </a:extLst>
          </p:cNvPr>
          <p:cNvCxnSpPr>
            <a:cxnSpLocks/>
          </p:cNvCxnSpPr>
          <p:nvPr/>
        </p:nvCxnSpPr>
        <p:spPr>
          <a:xfrm flipV="1">
            <a:off x="8332237" y="3846022"/>
            <a:ext cx="541175" cy="9891"/>
          </a:xfrm>
          <a:prstGeom prst="line">
            <a:avLst/>
          </a:prstGeom>
          <a:ln w="7620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kstvak 14">
            <a:extLst>
              <a:ext uri="{FF2B5EF4-FFF2-40B4-BE49-F238E27FC236}">
                <a16:creationId xmlns:a16="http://schemas.microsoft.com/office/drawing/2014/main" id="{FF892CED-E49D-1002-2300-EC59C26C1488}"/>
              </a:ext>
            </a:extLst>
          </p:cNvPr>
          <p:cNvSpPr txBox="1"/>
          <p:nvPr/>
        </p:nvSpPr>
        <p:spPr>
          <a:xfrm>
            <a:off x="6435610" y="4458599"/>
            <a:ext cx="2219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HC9-1</a:t>
            </a:r>
          </a:p>
        </p:txBody>
      </p:sp>
    </p:spTree>
    <p:extLst>
      <p:ext uri="{BB962C8B-B14F-4D97-AF65-F5344CB8AC3E}">
        <p14:creationId xmlns:p14="http://schemas.microsoft.com/office/powerpoint/2010/main" val="1818930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69D13FFC5C7A4C8E8F8F4D202D83D0" ma:contentTypeVersion="16" ma:contentTypeDescription="Een nieuw document maken." ma:contentTypeScope="" ma:versionID="230dde9950719e9da15dc536d53cc212">
  <xsd:schema xmlns:xsd="http://www.w3.org/2001/XMLSchema" xmlns:xs="http://www.w3.org/2001/XMLSchema" xmlns:p="http://schemas.microsoft.com/office/2006/metadata/properties" xmlns:ns2="32f5a426-4411-422f-b9c8-9b9c919dd02d" xmlns:ns3="597a471e-0b75-4fc5-bc4a-75c43d0a6ad2" xmlns:ns4="d11bdb94-d558-4ffe-a4b0-092cbde21480" targetNamespace="http://schemas.microsoft.com/office/2006/metadata/properties" ma:root="true" ma:fieldsID="39875308ffdd612a3cf840571ad041e7" ns2:_="" ns3:_="" ns4:_="">
    <xsd:import namespace="32f5a426-4411-422f-b9c8-9b9c919dd02d"/>
    <xsd:import namespace="597a471e-0b75-4fc5-bc4a-75c43d0a6ad2"/>
    <xsd:import namespace="d11bdb94-d558-4ffe-a4b0-092cbde214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f5a426-4411-422f-b9c8-9b9c919dd0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Afbeeldingtags" ma:readOnly="false" ma:fieldId="{5cf76f15-5ced-4ddc-b409-7134ff3c332f}" ma:taxonomyMulti="true" ma:sspId="9cfe35b6-4a65-43a7-bc9f-cf1ea54c88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7a471e-0b75-4fc5-bc4a-75c43d0a6ad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1bdb94-d558-4ffe-a4b0-092cbde2148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26a33bc-5304-44c1-9510-c7646694e7db}" ma:internalName="TaxCatchAll" ma:showField="CatchAllData" ma:web="597a471e-0b75-4fc5-bc4a-75c43d0a6a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2f5a426-4411-422f-b9c8-9b9c919dd02d">
      <Terms xmlns="http://schemas.microsoft.com/office/infopath/2007/PartnerControls"/>
    </lcf76f155ced4ddcb4097134ff3c332f>
    <TaxCatchAll xmlns="d11bdb94-d558-4ffe-a4b0-092cbde21480" xsi:nil="true"/>
  </documentManagement>
</p:properties>
</file>

<file path=customXml/itemProps1.xml><?xml version="1.0" encoding="utf-8"?>
<ds:datastoreItem xmlns:ds="http://schemas.openxmlformats.org/officeDocument/2006/customXml" ds:itemID="{5E1D77DC-99C0-4AB6-8CD6-9EF1EA5C31E8}">
  <ds:schemaRefs>
    <ds:schemaRef ds:uri="32f5a426-4411-422f-b9c8-9b9c919dd02d"/>
    <ds:schemaRef ds:uri="597a471e-0b75-4fc5-bc4a-75c43d0a6ad2"/>
    <ds:schemaRef ds:uri="d11bdb94-d558-4ffe-a4b0-092cbde2148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6B2502E-B601-4830-AD85-AC6C7AE32A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404759-93F7-4AF1-A261-76AFD7CC837B}">
  <ds:schemaRefs>
    <ds:schemaRef ds:uri="http://schemas.microsoft.com/office/2006/metadata/properties"/>
    <ds:schemaRef ds:uri="32f5a426-4411-422f-b9c8-9b9c919dd02d"/>
    <ds:schemaRef ds:uri="http://purl.org/dc/dcmitype/"/>
    <ds:schemaRef ds:uri="http://www.w3.org/XML/1998/namespace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d11bdb94-d558-4ffe-a4b0-092cbde21480"/>
    <ds:schemaRef ds:uri="597a471e-0b75-4fc5-bc4a-75c43d0a6ad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1190</Words>
  <Application>Microsoft Office PowerPoint</Application>
  <PresentationFormat>Widescreen</PresentationFormat>
  <Paragraphs>170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Cascadia Code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Jelle van Barneveld</dc:creator>
  <cp:lastModifiedBy>Jelle van Barneveld</cp:lastModifiedBy>
  <cp:revision>3</cp:revision>
  <dcterms:created xsi:type="dcterms:W3CDTF">2024-03-19T14:51:52Z</dcterms:created>
  <dcterms:modified xsi:type="dcterms:W3CDTF">2025-04-09T13:48:23Z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0x0101007769D13FFC5C7A4C8E8F8F4D202D83D0</vt:lpwstr>
  </property>
  <property fmtid="{D5CDD505-2E9C-101B-9397-08002B2CF9AE}" pid="3" name="MediaServiceImageTags">
    <vt:lpwstr/>
  </property>
</Properties>
</file>